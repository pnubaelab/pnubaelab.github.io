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353" r:id="rId3"/>
    <p:sldId id="360" r:id="rId4"/>
    <p:sldId id="361" r:id="rId5"/>
    <p:sldId id="357" r:id="rId6"/>
    <p:sldId id="355" r:id="rId7"/>
    <p:sldId id="363" r:id="rId8"/>
    <p:sldId id="364" r:id="rId9"/>
    <p:sldId id="365" r:id="rId10"/>
    <p:sldId id="356" r:id="rId11"/>
    <p:sldId id="358" r:id="rId12"/>
    <p:sldId id="366" r:id="rId13"/>
    <p:sldId id="362" r:id="rId14"/>
    <p:sldId id="367" r:id="rId15"/>
    <p:sldId id="334" r:id="rId16"/>
  </p:sldIdLst>
  <p:sldSz cx="6858000" cy="51435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58ED5"/>
    <a:srgbClr val="FFFFFF"/>
    <a:srgbClr val="006583"/>
    <a:srgbClr val="E3FFEE"/>
    <a:srgbClr val="306A21"/>
    <a:srgbClr val="329FD7"/>
    <a:srgbClr val="5B5B5B"/>
    <a:srgbClr val="595959"/>
    <a:srgbClr val="6E6E6E"/>
    <a:srgbClr val="32A1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430" autoAdjust="0"/>
    <p:restoredTop sz="96318" autoAdjust="0"/>
  </p:normalViewPr>
  <p:slideViewPr>
    <p:cSldViewPr>
      <p:cViewPr varScale="1">
        <p:scale>
          <a:sx n="209" d="100"/>
          <a:sy n="209" d="100"/>
        </p:scale>
        <p:origin x="2004" y="162"/>
      </p:cViewPr>
      <p:guideLst>
        <p:guide orient="horz" pos="1620"/>
        <p:guide pos="2160"/>
      </p:guideLst>
    </p:cSldViewPr>
  </p:slideViewPr>
  <p:notesTextViewPr>
    <p:cViewPr>
      <p:scale>
        <a:sx n="200" d="100"/>
        <a:sy n="200" d="100"/>
      </p:scale>
      <p:origin x="0" y="0"/>
    </p:cViewPr>
  </p:notesTextViewPr>
  <p:notesViewPr>
    <p:cSldViewPr showGuides="1">
      <p:cViewPr varScale="1">
        <p:scale>
          <a:sx n="121" d="100"/>
          <a:sy n="121" d="100"/>
        </p:scale>
        <p:origin x="5022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9688C6-5A19-4B42-9575-D847E9CBE7C7}" type="datetimeFigureOut">
              <a:rPr lang="ko-KR" altLang="en-US" smtClean="0"/>
              <a:t>2026-09-04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13348B-4077-49D5-AE8F-7F5DE348FBB1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159957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오늘 발표드릴 주제는 </a:t>
            </a:r>
            <a:r>
              <a:rPr lang="en-US" altLang="ko-KR" dirty="0"/>
              <a:t>DITTO, </a:t>
            </a:r>
            <a:r>
              <a:rPr lang="ko-KR" altLang="en-US" dirty="0"/>
              <a:t>즉 </a:t>
            </a:r>
            <a:r>
              <a:rPr lang="en-US" altLang="ko-KR" dirty="0"/>
              <a:t>Diffusion Transformer </a:t>
            </a:r>
            <a:r>
              <a:rPr lang="ko-KR" altLang="en-US" dirty="0"/>
              <a:t>기반의 해상 궤적 통합 분석 </a:t>
            </a:r>
            <a:r>
              <a:rPr lang="ko-KR" altLang="en-US" dirty="0" err="1"/>
              <a:t>프레임워크입니다</a:t>
            </a:r>
            <a:r>
              <a:rPr lang="en-US" altLang="ko-KR" dirty="0"/>
              <a:t>. </a:t>
            </a:r>
            <a:r>
              <a:rPr lang="ko-KR" altLang="en-US" dirty="0"/>
              <a:t>현재 </a:t>
            </a:r>
            <a:r>
              <a:rPr lang="en-US" altLang="ko-KR" dirty="0"/>
              <a:t>AIS </a:t>
            </a:r>
            <a:r>
              <a:rPr lang="ko-KR" altLang="en-US" dirty="0"/>
              <a:t>데이터는 불규칙 샘플링</a:t>
            </a:r>
            <a:r>
              <a:rPr lang="en-US" altLang="ko-KR" dirty="0"/>
              <a:t>, </a:t>
            </a:r>
            <a:r>
              <a:rPr lang="ko-KR" altLang="en-US" dirty="0"/>
              <a:t>결측</a:t>
            </a:r>
            <a:r>
              <a:rPr lang="en-US" altLang="ko-KR" dirty="0"/>
              <a:t>, </a:t>
            </a:r>
            <a:r>
              <a:rPr lang="ko-KR" altLang="en-US" dirty="0"/>
              <a:t>이상치</a:t>
            </a:r>
            <a:r>
              <a:rPr lang="en-US" altLang="ko-KR" dirty="0"/>
              <a:t>, </a:t>
            </a:r>
            <a:r>
              <a:rPr lang="ko-KR" altLang="en-US" dirty="0"/>
              <a:t>그리고 해안선이나 정상 항로 같은 공간 제약이 동시에 존재해서 분석이 쉽지 않습니다</a:t>
            </a:r>
            <a:r>
              <a:rPr lang="en-US" altLang="ko-KR" dirty="0"/>
              <a:t>. </a:t>
            </a:r>
            <a:r>
              <a:rPr lang="ko-KR" altLang="en-US" dirty="0"/>
              <a:t>저는 이러한 난점을 해결함과 동시에</a:t>
            </a:r>
            <a:r>
              <a:rPr lang="en-US" altLang="ko-KR" dirty="0"/>
              <a:t>, </a:t>
            </a:r>
            <a:r>
              <a:rPr lang="en-US" altLang="ko-KR" dirty="0" err="1"/>
              <a:t>DiT</a:t>
            </a:r>
            <a:r>
              <a:rPr lang="en-US" altLang="ko-KR" dirty="0"/>
              <a:t> </a:t>
            </a:r>
            <a:r>
              <a:rPr lang="ko-KR" altLang="en-US" dirty="0"/>
              <a:t>기반 </a:t>
            </a:r>
            <a:r>
              <a:rPr lang="en-US" altLang="ko-KR" dirty="0"/>
              <a:t>diffusion </a:t>
            </a:r>
            <a:r>
              <a:rPr lang="ko-KR" altLang="en-US" dirty="0"/>
              <a:t>모델을 활용해서 </a:t>
            </a:r>
            <a:r>
              <a:rPr lang="en-US" altLang="ko-KR" dirty="0"/>
              <a:t>prediction, interpolation, anomaly detection </a:t>
            </a:r>
            <a:r>
              <a:rPr lang="ko-KR" altLang="en-US" dirty="0"/>
              <a:t>같은 여러 해상 궤적 태스크에서 </a:t>
            </a:r>
            <a:r>
              <a:rPr lang="en-US" altLang="ko-KR" dirty="0"/>
              <a:t>general</a:t>
            </a:r>
            <a:r>
              <a:rPr lang="ko-KR" altLang="en-US" dirty="0"/>
              <a:t>하게 좋은 성능을 낼 수 있는 프레임워크를 만들고자 이 연구를 진행했습니다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13348B-4077-49D5-AE8F-7F5DE348FBB1}" type="slidenum">
              <a:rPr lang="ko-KR" altLang="en-US" smtClean="0"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466448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FE7776-C253-E0AD-912A-90089E946F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952FD03-714A-8DB4-DA3D-DAFB22105F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87518CD-1701-F057-4FDE-053A3086BB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ko-KR" altLang="en-US" dirty="0"/>
              <a:t>제안 모델의 기초인 </a:t>
            </a:r>
            <a:r>
              <a:rPr lang="en-US" altLang="ko-KR" dirty="0"/>
              <a:t>diffusion</a:t>
            </a:r>
            <a:r>
              <a:rPr lang="ko-KR" altLang="en-US" dirty="0"/>
              <a:t>부터 </a:t>
            </a:r>
            <a:r>
              <a:rPr lang="ko-KR" altLang="en-US" dirty="0" err="1"/>
              <a:t>설명드리자면</a:t>
            </a:r>
            <a:r>
              <a:rPr lang="en-US" altLang="ko-KR" dirty="0"/>
              <a:t>, </a:t>
            </a:r>
            <a:r>
              <a:rPr lang="ko-KR" altLang="en-US" dirty="0"/>
              <a:t>원본 데이터 </a:t>
            </a:r>
            <a:r>
              <a:rPr lang="en-US" altLang="ko-KR" dirty="0"/>
              <a:t>x0</a:t>
            </a:r>
            <a:r>
              <a:rPr lang="ko-KR" altLang="en-US" dirty="0"/>
              <a:t>에 점진적으로 노이즈를 추가해서 최종적으로는 순수 노이즈 상태인 </a:t>
            </a:r>
            <a:r>
              <a:rPr lang="en-US" altLang="ko-KR" dirty="0" err="1"/>
              <a:t>xT</a:t>
            </a:r>
            <a:r>
              <a:rPr lang="ko-KR" altLang="en-US" dirty="0"/>
              <a:t>로 보내는 </a:t>
            </a:r>
            <a:r>
              <a:rPr lang="en-US" altLang="ko-KR" dirty="0"/>
              <a:t>forward process</a:t>
            </a:r>
            <a:r>
              <a:rPr lang="ko-KR" altLang="en-US" dirty="0"/>
              <a:t>와</a:t>
            </a:r>
            <a:r>
              <a:rPr lang="en-US" altLang="ko-KR" dirty="0"/>
              <a:t>, </a:t>
            </a:r>
            <a:r>
              <a:rPr lang="ko-KR" altLang="en-US" dirty="0"/>
              <a:t>반대로 이 노이즈를 한 단계씩 제거하면서 다시 원래 데이터 분포로 복원하는 </a:t>
            </a:r>
            <a:r>
              <a:rPr lang="en-US" altLang="ko-KR" dirty="0"/>
              <a:t>backward process</a:t>
            </a:r>
            <a:r>
              <a:rPr lang="ko-KR" altLang="en-US" dirty="0"/>
              <a:t>를 학습하는 모델입니다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r>
              <a:rPr lang="ko-KR" altLang="en-US" dirty="0"/>
              <a:t>즉</a:t>
            </a:r>
            <a:r>
              <a:rPr lang="en-US" altLang="ko-KR" dirty="0"/>
              <a:t>, </a:t>
            </a:r>
            <a:r>
              <a:rPr lang="ko-KR" altLang="en-US" dirty="0"/>
              <a:t>한 번에 정답을 찍는 것이 아니라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r>
              <a:rPr lang="en-US" altLang="ko-KR" dirty="0"/>
              <a:t>noisy</a:t>
            </a:r>
            <a:r>
              <a:rPr lang="ko-KR" altLang="en-US" dirty="0"/>
              <a:t>한 상태에서 조금씩 더 그럴듯한 해를 만들어 가는 과정을 학습합니다</a:t>
            </a:r>
            <a:r>
              <a:rPr lang="en-US" altLang="ko-KR" dirty="0"/>
              <a:t>. </a:t>
            </a:r>
            <a:r>
              <a:rPr lang="ko-KR" altLang="en-US" dirty="0"/>
              <a:t>여기서</a:t>
            </a:r>
            <a:r>
              <a:rPr lang="en-US" altLang="ko-KR" dirty="0"/>
              <a:t>, </a:t>
            </a:r>
            <a:r>
              <a:rPr lang="en-US" altLang="ko-KR" dirty="0" err="1"/>
              <a:t>markov</a:t>
            </a:r>
            <a:r>
              <a:rPr lang="en-US" altLang="ko-KR" dirty="0"/>
              <a:t> chain </a:t>
            </a:r>
            <a:r>
              <a:rPr lang="ko-KR" altLang="en-US" dirty="0"/>
              <a:t>성질로 데이터를 단계적으로 망가뜨리고 다시 단계적으로 복원하는데</a:t>
            </a:r>
            <a:r>
              <a:rPr lang="en-US" altLang="ko-KR" dirty="0"/>
              <a:t>, </a:t>
            </a:r>
            <a:r>
              <a:rPr lang="ko-KR" altLang="en-US" dirty="0"/>
              <a:t>역방향 단계에서 베이지안 룰 관점에서 현재 </a:t>
            </a:r>
            <a:r>
              <a:rPr lang="en-US" altLang="ko-KR" dirty="0" err="1"/>
              <a:t>nosiy</a:t>
            </a:r>
            <a:r>
              <a:rPr lang="en-US" altLang="ko-KR" dirty="0"/>
              <a:t> state</a:t>
            </a:r>
            <a:r>
              <a:rPr lang="ko-KR" altLang="en-US" dirty="0"/>
              <a:t>가 주어졌을 때</a:t>
            </a:r>
            <a:r>
              <a:rPr lang="en-US" altLang="ko-KR" dirty="0"/>
              <a:t>, </a:t>
            </a:r>
            <a:r>
              <a:rPr lang="ko-KR" altLang="en-US" dirty="0"/>
              <a:t>이전 상태를 추정하는 문제로 해석할 수 있습니다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r>
              <a:rPr lang="ko-KR" altLang="en-US" dirty="0"/>
              <a:t>이렇게 </a:t>
            </a:r>
            <a:r>
              <a:rPr lang="en-US" altLang="ko-KR" dirty="0"/>
              <a:t>diffusion</a:t>
            </a:r>
            <a:r>
              <a:rPr lang="ko-KR" altLang="en-US" dirty="0"/>
              <a:t>은 복원에 초점을 맞춘 모델인데 복원 모델이라 하면</a:t>
            </a:r>
            <a:r>
              <a:rPr lang="en-US" altLang="ko-KR" dirty="0"/>
              <a:t>, GAN,</a:t>
            </a:r>
            <a:r>
              <a:rPr lang="ko-KR" altLang="en-US" dirty="0"/>
              <a:t> </a:t>
            </a:r>
            <a:r>
              <a:rPr lang="en-US" altLang="ko-KR" dirty="0"/>
              <a:t>Autoencoder,</a:t>
            </a:r>
            <a:r>
              <a:rPr lang="ko-KR" altLang="en-US" dirty="0"/>
              <a:t> 단순 회귀 모델</a:t>
            </a:r>
            <a:r>
              <a:rPr lang="en-US" altLang="ko-KR" dirty="0"/>
              <a:t> </a:t>
            </a:r>
            <a:r>
              <a:rPr lang="ko-KR" altLang="en-US" dirty="0"/>
              <a:t>등 여러 모델이 존재하지만</a:t>
            </a:r>
            <a:r>
              <a:rPr lang="en-US" altLang="ko-KR" dirty="0"/>
              <a:t>, diffusion</a:t>
            </a:r>
            <a:r>
              <a:rPr lang="ko-KR" altLang="en-US" dirty="0"/>
              <a:t>은 미관측 구간을 확률적 분포로 다루고</a:t>
            </a:r>
            <a:r>
              <a:rPr lang="en-US" altLang="ko-KR" dirty="0"/>
              <a:t>, </a:t>
            </a:r>
            <a:r>
              <a:rPr lang="en-US" altLang="ko-KR" dirty="0" err="1"/>
              <a:t>nosie</a:t>
            </a:r>
            <a:r>
              <a:rPr lang="en-US" altLang="ko-KR" dirty="0"/>
              <a:t> prediction</a:t>
            </a:r>
            <a:r>
              <a:rPr lang="ko-KR" altLang="en-US" dirty="0"/>
              <a:t>을 통해 생성 과정을 직접 학습할 수 있다는 점에서 차별점을 가지고 있습니다</a:t>
            </a:r>
            <a:r>
              <a:rPr lang="en-US" altLang="ko-KR" dirty="0"/>
              <a:t>. </a:t>
            </a:r>
            <a:r>
              <a:rPr lang="ko-KR" altLang="en-US" dirty="0"/>
              <a:t>또한 뒤에서 설명드릴 공간 조건이나 대표 항로 </a:t>
            </a:r>
            <a:r>
              <a:rPr lang="ko-KR" altLang="en-US" dirty="0" err="1"/>
              <a:t>조건같은</a:t>
            </a:r>
            <a:r>
              <a:rPr lang="ko-KR" altLang="en-US" dirty="0"/>
              <a:t> 추가 정보들을 </a:t>
            </a:r>
            <a:r>
              <a:rPr lang="en-US" altLang="ko-KR" dirty="0"/>
              <a:t>diffusion</a:t>
            </a:r>
            <a:r>
              <a:rPr lang="ko-KR" altLang="en-US" dirty="0"/>
              <a:t>의 복원 과정 안에 자연스럽게 결합할 수 있습니다</a:t>
            </a:r>
            <a:r>
              <a:rPr lang="en-US" altLang="ko-KR" dirty="0"/>
              <a:t>. </a:t>
            </a:r>
            <a:r>
              <a:rPr lang="ko-KR" altLang="en-US" dirty="0"/>
              <a:t>그렇기에 저희는 이 </a:t>
            </a:r>
            <a:r>
              <a:rPr lang="en-US" altLang="ko-KR" dirty="0"/>
              <a:t>diffusion </a:t>
            </a:r>
            <a:r>
              <a:rPr lang="ko-KR" altLang="en-US" dirty="0"/>
              <a:t>모델을 </a:t>
            </a:r>
            <a:r>
              <a:rPr lang="en-US" altLang="ko-KR" dirty="0"/>
              <a:t>AIS</a:t>
            </a:r>
            <a:r>
              <a:rPr lang="ko-KR" altLang="en-US" dirty="0"/>
              <a:t>에 적용해서</a:t>
            </a:r>
            <a:r>
              <a:rPr lang="en-US" altLang="ko-KR" dirty="0"/>
              <a:t>, </a:t>
            </a:r>
            <a:r>
              <a:rPr lang="ko-KR" altLang="en-US" dirty="0"/>
              <a:t>미래 구간과 결측 구간 복원을 하나의 </a:t>
            </a:r>
            <a:r>
              <a:rPr lang="en-US" altLang="ko-KR" dirty="0"/>
              <a:t>diffusion </a:t>
            </a:r>
            <a:r>
              <a:rPr lang="ko-KR" altLang="en-US" dirty="0"/>
              <a:t>모델로 해석했습니다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09139AD-EF4A-C051-0DE8-959301DB2D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13348B-4077-49D5-AE8F-7F5DE348FBB1}" type="slidenum">
              <a:rPr lang="ko-KR" altLang="en-US" smtClean="0"/>
              <a:t>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962061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A62469-6721-9944-EF55-FC3DDE2FC3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678F5D8-4A14-747F-DD6F-AF41BF72CF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C869543-6639-743B-16E5-22899218DA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ko-KR" altLang="en-US" dirty="0"/>
              <a:t>제안 모델의 기초인 </a:t>
            </a:r>
            <a:r>
              <a:rPr lang="en-US" altLang="ko-KR" dirty="0"/>
              <a:t>diffusion</a:t>
            </a:r>
            <a:r>
              <a:rPr lang="ko-KR" altLang="en-US" dirty="0"/>
              <a:t>부터 </a:t>
            </a:r>
            <a:r>
              <a:rPr lang="ko-KR" altLang="en-US" dirty="0" err="1"/>
              <a:t>설명드리자면</a:t>
            </a:r>
            <a:r>
              <a:rPr lang="en-US" altLang="ko-KR" dirty="0"/>
              <a:t>, </a:t>
            </a:r>
            <a:r>
              <a:rPr lang="ko-KR" altLang="en-US" dirty="0"/>
              <a:t>원본 데이터 </a:t>
            </a:r>
            <a:r>
              <a:rPr lang="en-US" altLang="ko-KR" dirty="0"/>
              <a:t>x0</a:t>
            </a:r>
            <a:r>
              <a:rPr lang="ko-KR" altLang="en-US" dirty="0"/>
              <a:t>에 점진적으로 노이즈를 추가해서 최종적으로는 순수 노이즈 상태인 </a:t>
            </a:r>
            <a:r>
              <a:rPr lang="en-US" altLang="ko-KR" dirty="0" err="1"/>
              <a:t>xT</a:t>
            </a:r>
            <a:r>
              <a:rPr lang="ko-KR" altLang="en-US" dirty="0"/>
              <a:t>로 보내는 </a:t>
            </a:r>
            <a:r>
              <a:rPr lang="en-US" altLang="ko-KR" dirty="0"/>
              <a:t>forward process</a:t>
            </a:r>
            <a:r>
              <a:rPr lang="ko-KR" altLang="en-US" dirty="0"/>
              <a:t>와</a:t>
            </a:r>
            <a:r>
              <a:rPr lang="en-US" altLang="ko-KR" dirty="0"/>
              <a:t>, </a:t>
            </a:r>
            <a:r>
              <a:rPr lang="ko-KR" altLang="en-US" dirty="0"/>
              <a:t>반대로 이 노이즈를 한 단계씩 제거하면서 다시 원래 데이터 분포로 복원하는 </a:t>
            </a:r>
            <a:r>
              <a:rPr lang="en-US" altLang="ko-KR" dirty="0"/>
              <a:t>backward process</a:t>
            </a:r>
            <a:r>
              <a:rPr lang="ko-KR" altLang="en-US" dirty="0"/>
              <a:t>를 학습하는 모델입니다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r>
              <a:rPr lang="ko-KR" altLang="en-US" dirty="0"/>
              <a:t>즉</a:t>
            </a:r>
            <a:r>
              <a:rPr lang="en-US" altLang="ko-KR" dirty="0"/>
              <a:t>, </a:t>
            </a:r>
            <a:r>
              <a:rPr lang="ko-KR" altLang="en-US" dirty="0"/>
              <a:t>한 번에 정답을 찍는 것이 아니라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r>
              <a:rPr lang="en-US" altLang="ko-KR" dirty="0"/>
              <a:t>noisy</a:t>
            </a:r>
            <a:r>
              <a:rPr lang="ko-KR" altLang="en-US" dirty="0"/>
              <a:t>한 상태에서 조금씩 더 그럴듯한 해를 만들어 가는 과정을 학습합니다</a:t>
            </a:r>
            <a:r>
              <a:rPr lang="en-US" altLang="ko-KR" dirty="0"/>
              <a:t>. </a:t>
            </a:r>
            <a:r>
              <a:rPr lang="ko-KR" altLang="en-US" dirty="0"/>
              <a:t>여기서</a:t>
            </a:r>
            <a:r>
              <a:rPr lang="en-US" altLang="ko-KR" dirty="0"/>
              <a:t>, </a:t>
            </a:r>
            <a:r>
              <a:rPr lang="en-US" altLang="ko-KR" dirty="0" err="1"/>
              <a:t>markov</a:t>
            </a:r>
            <a:r>
              <a:rPr lang="en-US" altLang="ko-KR" dirty="0"/>
              <a:t> chain </a:t>
            </a:r>
            <a:r>
              <a:rPr lang="ko-KR" altLang="en-US" dirty="0"/>
              <a:t>성질로 데이터를 단계적으로 망가뜨리고 다시 단계적으로 복원하는데</a:t>
            </a:r>
            <a:r>
              <a:rPr lang="en-US" altLang="ko-KR" dirty="0"/>
              <a:t>, </a:t>
            </a:r>
            <a:r>
              <a:rPr lang="ko-KR" altLang="en-US" dirty="0"/>
              <a:t>역방향 단계에서 베이지안 룰 관점에서 현재 </a:t>
            </a:r>
            <a:r>
              <a:rPr lang="en-US" altLang="ko-KR" dirty="0" err="1"/>
              <a:t>nosiy</a:t>
            </a:r>
            <a:r>
              <a:rPr lang="en-US" altLang="ko-KR" dirty="0"/>
              <a:t> state</a:t>
            </a:r>
            <a:r>
              <a:rPr lang="ko-KR" altLang="en-US" dirty="0"/>
              <a:t>가 주어졌을 때</a:t>
            </a:r>
            <a:r>
              <a:rPr lang="en-US" altLang="ko-KR" dirty="0"/>
              <a:t>, </a:t>
            </a:r>
            <a:r>
              <a:rPr lang="ko-KR" altLang="en-US" dirty="0"/>
              <a:t>이전 상태를 추정하는 문제로 해석할 수 있습니다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r>
              <a:rPr lang="ko-KR" altLang="en-US" dirty="0"/>
              <a:t>이렇게 </a:t>
            </a:r>
            <a:r>
              <a:rPr lang="en-US" altLang="ko-KR" dirty="0"/>
              <a:t>diffusion</a:t>
            </a:r>
            <a:r>
              <a:rPr lang="ko-KR" altLang="en-US" dirty="0"/>
              <a:t>은 복원에 초점을 맞춘 모델인데 복원 모델이라 하면</a:t>
            </a:r>
            <a:r>
              <a:rPr lang="en-US" altLang="ko-KR" dirty="0"/>
              <a:t>, GAN,</a:t>
            </a:r>
            <a:r>
              <a:rPr lang="ko-KR" altLang="en-US" dirty="0"/>
              <a:t> </a:t>
            </a:r>
            <a:r>
              <a:rPr lang="en-US" altLang="ko-KR" dirty="0"/>
              <a:t>Autoencoder,</a:t>
            </a:r>
            <a:r>
              <a:rPr lang="ko-KR" altLang="en-US" dirty="0"/>
              <a:t> 단순 회귀 모델</a:t>
            </a:r>
            <a:r>
              <a:rPr lang="en-US" altLang="ko-KR" dirty="0"/>
              <a:t> </a:t>
            </a:r>
            <a:r>
              <a:rPr lang="ko-KR" altLang="en-US" dirty="0"/>
              <a:t>등 여러 모델이 존재하지만</a:t>
            </a:r>
            <a:r>
              <a:rPr lang="en-US" altLang="ko-KR" dirty="0"/>
              <a:t>, diffusion</a:t>
            </a:r>
            <a:r>
              <a:rPr lang="ko-KR" altLang="en-US" dirty="0"/>
              <a:t>은 미관측 구간을 확률적 분포로 다루고</a:t>
            </a:r>
            <a:r>
              <a:rPr lang="en-US" altLang="ko-KR" dirty="0"/>
              <a:t>, </a:t>
            </a:r>
            <a:r>
              <a:rPr lang="en-US" altLang="ko-KR" dirty="0" err="1"/>
              <a:t>nosie</a:t>
            </a:r>
            <a:r>
              <a:rPr lang="en-US" altLang="ko-KR" dirty="0"/>
              <a:t> prediction</a:t>
            </a:r>
            <a:r>
              <a:rPr lang="ko-KR" altLang="en-US" dirty="0"/>
              <a:t>을 통해 생성 과정을 직접 학습할 수 있다는 점에서 차별점을 가지고 있습니다</a:t>
            </a:r>
            <a:r>
              <a:rPr lang="en-US" altLang="ko-KR" dirty="0"/>
              <a:t>. </a:t>
            </a:r>
            <a:r>
              <a:rPr lang="ko-KR" altLang="en-US" dirty="0"/>
              <a:t>또한 뒤에서 설명드릴 공간 조건이나 대표 항로 </a:t>
            </a:r>
            <a:r>
              <a:rPr lang="ko-KR" altLang="en-US" dirty="0" err="1"/>
              <a:t>조건같은</a:t>
            </a:r>
            <a:r>
              <a:rPr lang="ko-KR" altLang="en-US" dirty="0"/>
              <a:t> 추가 정보들을 </a:t>
            </a:r>
            <a:r>
              <a:rPr lang="en-US" altLang="ko-KR" dirty="0"/>
              <a:t>diffusion</a:t>
            </a:r>
            <a:r>
              <a:rPr lang="ko-KR" altLang="en-US" dirty="0"/>
              <a:t>의 복원 과정 안에 자연스럽게 결합할 수 있습니다</a:t>
            </a:r>
            <a:r>
              <a:rPr lang="en-US" altLang="ko-KR" dirty="0"/>
              <a:t>. </a:t>
            </a:r>
            <a:r>
              <a:rPr lang="ko-KR" altLang="en-US" dirty="0"/>
              <a:t>그렇기에 저희는 이 </a:t>
            </a:r>
            <a:r>
              <a:rPr lang="en-US" altLang="ko-KR" dirty="0"/>
              <a:t>diffusion </a:t>
            </a:r>
            <a:r>
              <a:rPr lang="ko-KR" altLang="en-US" dirty="0"/>
              <a:t>모델을 </a:t>
            </a:r>
            <a:r>
              <a:rPr lang="en-US" altLang="ko-KR" dirty="0"/>
              <a:t>AIS</a:t>
            </a:r>
            <a:r>
              <a:rPr lang="ko-KR" altLang="en-US" dirty="0"/>
              <a:t>에 적용해서</a:t>
            </a:r>
            <a:r>
              <a:rPr lang="en-US" altLang="ko-KR" dirty="0"/>
              <a:t>, </a:t>
            </a:r>
            <a:r>
              <a:rPr lang="ko-KR" altLang="en-US" dirty="0"/>
              <a:t>미래 구간과 결측 구간 복원을 하나의 </a:t>
            </a:r>
            <a:r>
              <a:rPr lang="en-US" altLang="ko-KR" dirty="0"/>
              <a:t>diffusion </a:t>
            </a:r>
            <a:r>
              <a:rPr lang="ko-KR" altLang="en-US" dirty="0"/>
              <a:t>모델로 해석했습니다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1C49E65-40E6-C020-C544-DB01F62148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13348B-4077-49D5-AE8F-7F5DE348FBB1}" type="slidenum">
              <a:rPr lang="ko-KR" altLang="en-US" smtClean="0"/>
              <a:t>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038367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85E958-37EC-589C-9189-12FE8FCB88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E9E12F8-DBB8-B09C-015B-F85C2B5FB6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E587322-5660-D43B-BD1D-408732D759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ko-KR" altLang="en-US" dirty="0"/>
              <a:t>제안 모델의 기초인 </a:t>
            </a:r>
            <a:r>
              <a:rPr lang="en-US" altLang="ko-KR" dirty="0"/>
              <a:t>diffusion</a:t>
            </a:r>
            <a:r>
              <a:rPr lang="ko-KR" altLang="en-US" dirty="0"/>
              <a:t>부터 </a:t>
            </a:r>
            <a:r>
              <a:rPr lang="ko-KR" altLang="en-US" dirty="0" err="1"/>
              <a:t>설명드리자면</a:t>
            </a:r>
            <a:r>
              <a:rPr lang="en-US" altLang="ko-KR" dirty="0"/>
              <a:t>, </a:t>
            </a:r>
            <a:r>
              <a:rPr lang="ko-KR" altLang="en-US" dirty="0"/>
              <a:t>원본 데이터 </a:t>
            </a:r>
            <a:r>
              <a:rPr lang="en-US" altLang="ko-KR" dirty="0"/>
              <a:t>x0</a:t>
            </a:r>
            <a:r>
              <a:rPr lang="ko-KR" altLang="en-US" dirty="0"/>
              <a:t>에 점진적으로 노이즈를 추가해서 최종적으로는 순수 노이즈 상태인 </a:t>
            </a:r>
            <a:r>
              <a:rPr lang="en-US" altLang="ko-KR" dirty="0" err="1"/>
              <a:t>xT</a:t>
            </a:r>
            <a:r>
              <a:rPr lang="ko-KR" altLang="en-US" dirty="0"/>
              <a:t>로 보내는 </a:t>
            </a:r>
            <a:r>
              <a:rPr lang="en-US" altLang="ko-KR" dirty="0"/>
              <a:t>forward process</a:t>
            </a:r>
            <a:r>
              <a:rPr lang="ko-KR" altLang="en-US" dirty="0"/>
              <a:t>와</a:t>
            </a:r>
            <a:r>
              <a:rPr lang="en-US" altLang="ko-KR" dirty="0"/>
              <a:t>, </a:t>
            </a:r>
            <a:r>
              <a:rPr lang="ko-KR" altLang="en-US" dirty="0"/>
              <a:t>반대로 이 노이즈를 한 단계씩 제거하면서 다시 원래 데이터 분포로 복원하는 </a:t>
            </a:r>
            <a:r>
              <a:rPr lang="en-US" altLang="ko-KR" dirty="0"/>
              <a:t>backward process</a:t>
            </a:r>
            <a:r>
              <a:rPr lang="ko-KR" altLang="en-US" dirty="0"/>
              <a:t>를 학습하는 모델입니다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r>
              <a:rPr lang="ko-KR" altLang="en-US" dirty="0"/>
              <a:t>즉</a:t>
            </a:r>
            <a:r>
              <a:rPr lang="en-US" altLang="ko-KR" dirty="0"/>
              <a:t>, </a:t>
            </a:r>
            <a:r>
              <a:rPr lang="ko-KR" altLang="en-US" dirty="0"/>
              <a:t>한 번에 정답을 찍는 것이 아니라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r>
              <a:rPr lang="en-US" altLang="ko-KR" dirty="0"/>
              <a:t>noisy</a:t>
            </a:r>
            <a:r>
              <a:rPr lang="ko-KR" altLang="en-US" dirty="0"/>
              <a:t>한 상태에서 조금씩 더 그럴듯한 해를 만들어 가는 과정을 학습합니다</a:t>
            </a:r>
            <a:r>
              <a:rPr lang="en-US" altLang="ko-KR" dirty="0"/>
              <a:t>. </a:t>
            </a:r>
            <a:r>
              <a:rPr lang="ko-KR" altLang="en-US" dirty="0"/>
              <a:t>여기서</a:t>
            </a:r>
            <a:r>
              <a:rPr lang="en-US" altLang="ko-KR" dirty="0"/>
              <a:t>, </a:t>
            </a:r>
            <a:r>
              <a:rPr lang="en-US" altLang="ko-KR" dirty="0" err="1"/>
              <a:t>markov</a:t>
            </a:r>
            <a:r>
              <a:rPr lang="en-US" altLang="ko-KR" dirty="0"/>
              <a:t> chain </a:t>
            </a:r>
            <a:r>
              <a:rPr lang="ko-KR" altLang="en-US" dirty="0"/>
              <a:t>성질로 데이터를 단계적으로 망가뜨리고 다시 단계적으로 복원하는데</a:t>
            </a:r>
            <a:r>
              <a:rPr lang="en-US" altLang="ko-KR" dirty="0"/>
              <a:t>, </a:t>
            </a:r>
            <a:r>
              <a:rPr lang="ko-KR" altLang="en-US" dirty="0"/>
              <a:t>역방향 단계에서 베이지안 룰 관점에서 현재 </a:t>
            </a:r>
            <a:r>
              <a:rPr lang="en-US" altLang="ko-KR" dirty="0" err="1"/>
              <a:t>nosiy</a:t>
            </a:r>
            <a:r>
              <a:rPr lang="en-US" altLang="ko-KR" dirty="0"/>
              <a:t> state</a:t>
            </a:r>
            <a:r>
              <a:rPr lang="ko-KR" altLang="en-US" dirty="0"/>
              <a:t>가 주어졌을 때</a:t>
            </a:r>
            <a:r>
              <a:rPr lang="en-US" altLang="ko-KR" dirty="0"/>
              <a:t>, </a:t>
            </a:r>
            <a:r>
              <a:rPr lang="ko-KR" altLang="en-US" dirty="0"/>
              <a:t>이전 상태를 추정하는 문제로 해석할 수 있습니다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r>
              <a:rPr lang="ko-KR" altLang="en-US" dirty="0"/>
              <a:t>이렇게 </a:t>
            </a:r>
            <a:r>
              <a:rPr lang="en-US" altLang="ko-KR" dirty="0"/>
              <a:t>diffusion</a:t>
            </a:r>
            <a:r>
              <a:rPr lang="ko-KR" altLang="en-US" dirty="0"/>
              <a:t>은 복원에 초점을 맞춘 모델인데 복원 모델이라 하면</a:t>
            </a:r>
            <a:r>
              <a:rPr lang="en-US" altLang="ko-KR" dirty="0"/>
              <a:t>, GAN,</a:t>
            </a:r>
            <a:r>
              <a:rPr lang="ko-KR" altLang="en-US" dirty="0"/>
              <a:t> </a:t>
            </a:r>
            <a:r>
              <a:rPr lang="en-US" altLang="ko-KR" dirty="0"/>
              <a:t>Autoencoder,</a:t>
            </a:r>
            <a:r>
              <a:rPr lang="ko-KR" altLang="en-US" dirty="0"/>
              <a:t> 단순 회귀 모델</a:t>
            </a:r>
            <a:r>
              <a:rPr lang="en-US" altLang="ko-KR" dirty="0"/>
              <a:t> </a:t>
            </a:r>
            <a:r>
              <a:rPr lang="ko-KR" altLang="en-US" dirty="0"/>
              <a:t>등 여러 모델이 존재하지만</a:t>
            </a:r>
            <a:r>
              <a:rPr lang="en-US" altLang="ko-KR" dirty="0"/>
              <a:t>, diffusion</a:t>
            </a:r>
            <a:r>
              <a:rPr lang="ko-KR" altLang="en-US" dirty="0"/>
              <a:t>은 미관측 구간을 확률적 분포로 다루고</a:t>
            </a:r>
            <a:r>
              <a:rPr lang="en-US" altLang="ko-KR" dirty="0"/>
              <a:t>, </a:t>
            </a:r>
            <a:r>
              <a:rPr lang="en-US" altLang="ko-KR" dirty="0" err="1"/>
              <a:t>nosie</a:t>
            </a:r>
            <a:r>
              <a:rPr lang="en-US" altLang="ko-KR" dirty="0"/>
              <a:t> prediction</a:t>
            </a:r>
            <a:r>
              <a:rPr lang="ko-KR" altLang="en-US" dirty="0"/>
              <a:t>을 통해 생성 과정을 직접 학습할 수 있다는 점에서 차별점을 가지고 있습니다</a:t>
            </a:r>
            <a:r>
              <a:rPr lang="en-US" altLang="ko-KR" dirty="0"/>
              <a:t>. </a:t>
            </a:r>
            <a:r>
              <a:rPr lang="ko-KR" altLang="en-US" dirty="0"/>
              <a:t>또한 뒤에서 설명드릴 공간 조건이나 대표 항로 </a:t>
            </a:r>
            <a:r>
              <a:rPr lang="ko-KR" altLang="en-US" dirty="0" err="1"/>
              <a:t>조건같은</a:t>
            </a:r>
            <a:r>
              <a:rPr lang="ko-KR" altLang="en-US" dirty="0"/>
              <a:t> 추가 정보들을 </a:t>
            </a:r>
            <a:r>
              <a:rPr lang="en-US" altLang="ko-KR" dirty="0"/>
              <a:t>diffusion</a:t>
            </a:r>
            <a:r>
              <a:rPr lang="ko-KR" altLang="en-US" dirty="0"/>
              <a:t>의 복원 과정 안에 자연스럽게 결합할 수 있습니다</a:t>
            </a:r>
            <a:r>
              <a:rPr lang="en-US" altLang="ko-KR" dirty="0"/>
              <a:t>. </a:t>
            </a:r>
            <a:r>
              <a:rPr lang="ko-KR" altLang="en-US" dirty="0"/>
              <a:t>그렇기에 저희는 이 </a:t>
            </a:r>
            <a:r>
              <a:rPr lang="en-US" altLang="ko-KR" dirty="0"/>
              <a:t>diffusion </a:t>
            </a:r>
            <a:r>
              <a:rPr lang="ko-KR" altLang="en-US" dirty="0"/>
              <a:t>모델을 </a:t>
            </a:r>
            <a:r>
              <a:rPr lang="en-US" altLang="ko-KR" dirty="0"/>
              <a:t>AIS</a:t>
            </a:r>
            <a:r>
              <a:rPr lang="ko-KR" altLang="en-US" dirty="0"/>
              <a:t>에 적용해서</a:t>
            </a:r>
            <a:r>
              <a:rPr lang="en-US" altLang="ko-KR" dirty="0"/>
              <a:t>, </a:t>
            </a:r>
            <a:r>
              <a:rPr lang="ko-KR" altLang="en-US" dirty="0"/>
              <a:t>미래 구간과 결측 구간 복원을 하나의 </a:t>
            </a:r>
            <a:r>
              <a:rPr lang="en-US" altLang="ko-KR" dirty="0"/>
              <a:t>diffusion </a:t>
            </a:r>
            <a:r>
              <a:rPr lang="ko-KR" altLang="en-US" dirty="0"/>
              <a:t>모델로 해석했습니다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5E2F06B-1DE2-A4F1-8955-675DDA79D2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13348B-4077-49D5-AE8F-7F5DE348FBB1}" type="slidenum">
              <a:rPr lang="ko-KR" altLang="en-US" smtClean="0"/>
              <a:t>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759021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hasCustomPrompt="1"/>
          </p:nvPr>
        </p:nvSpPr>
        <p:spPr>
          <a:xfrm>
            <a:off x="514350" y="1504950"/>
            <a:ext cx="5829300" cy="594066"/>
          </a:xfrm>
        </p:spPr>
        <p:txBody>
          <a:bodyPr/>
          <a:lstStyle>
            <a:lvl1pPr>
              <a:defRPr b="1">
                <a:ln>
                  <a:solidFill>
                    <a:srgbClr val="595959">
                      <a:alpha val="5000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r>
              <a:rPr lang="en-US" altLang="ko-KR" dirty="0"/>
              <a:t>THIS IS TITLE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 hasCustomPrompt="1"/>
          </p:nvPr>
        </p:nvSpPr>
        <p:spPr>
          <a:xfrm>
            <a:off x="1085850" y="2242202"/>
            <a:ext cx="4800600" cy="381000"/>
          </a:xfrm>
          <a:ln>
            <a:noFill/>
          </a:ln>
        </p:spPr>
        <p:txBody>
          <a:bodyPr>
            <a:normAutofit/>
          </a:bodyPr>
          <a:lstStyle>
            <a:lvl1pPr marL="0" indent="0" algn="ctr">
              <a:buNone/>
              <a:defRPr sz="1350" i="0" baseline="0">
                <a:ln>
                  <a:solidFill>
                    <a:srgbClr val="6E6E6E">
                      <a:alpha val="5000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ko-KR" dirty="0"/>
              <a:t>Overview of the presentation / presenter name</a:t>
            </a:r>
            <a:endParaRPr lang="ko-KR" altLang="en-US" dirty="0"/>
          </a:p>
        </p:txBody>
      </p:sp>
      <p:pic>
        <p:nvPicPr>
          <p:cNvPr id="9" name="Picture 2" descr="H:\project lab\7. logo BSC Lab\logo pnu\pnulogo-fix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37660" y="4832245"/>
            <a:ext cx="744140" cy="2319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바닥글 개체 틀 4"/>
          <p:cNvSpPr txBox="1">
            <a:spLocks/>
          </p:cNvSpPr>
          <p:nvPr userDrawn="1"/>
        </p:nvSpPr>
        <p:spPr>
          <a:xfrm>
            <a:off x="2802861" y="4857751"/>
            <a:ext cx="1252278" cy="188119"/>
          </a:xfrm>
          <a:prstGeom prst="rect">
            <a:avLst/>
          </a:prstGeom>
        </p:spPr>
        <p:txBody>
          <a:bodyPr vert="horz" lIns="27000" tIns="27000" rIns="27000" bIns="2700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100" i="1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25" i="0" dirty="0">
                <a:ln>
                  <a:solidFill>
                    <a:srgbClr val="595959">
                      <a:alpha val="15000"/>
                    </a:srgbClr>
                  </a:solidFill>
                </a:ln>
                <a:latin typeface="Calibri Light" panose="020F0302020204030204" pitchFamily="34" charset="0"/>
                <a:cs typeface="Calibri Light" panose="020F0302020204030204" pitchFamily="34" charset="0"/>
              </a:rPr>
              <a:t>http://baelab.pusan.ac.kr</a:t>
            </a:r>
            <a:endParaRPr lang="ko-KR" altLang="en-US" sz="825" i="0" dirty="0">
              <a:ln>
                <a:solidFill>
                  <a:srgbClr val="595959">
                    <a:alpha val="15000"/>
                  </a:srgbClr>
                </a:solidFill>
              </a:ln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pic>
        <p:nvPicPr>
          <p:cNvPr id="18" name="그림 1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5082536"/>
            <a:ext cx="6858000" cy="60965"/>
          </a:xfrm>
          <a:prstGeom prst="rect">
            <a:avLst/>
          </a:prstGeom>
        </p:spPr>
      </p:pic>
      <p:pic>
        <p:nvPicPr>
          <p:cNvPr id="12" name="그림 11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7110" y="4822878"/>
            <a:ext cx="590550" cy="22871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342900" y="438150"/>
            <a:ext cx="6172200" cy="324036"/>
          </a:xfrm>
        </p:spPr>
        <p:txBody>
          <a:bodyPr>
            <a:noAutofit/>
          </a:bodyPr>
          <a:lstStyle>
            <a:lvl1pPr algn="l">
              <a:defRPr sz="2100" b="1" baseline="0">
                <a:ln>
                  <a:solidFill>
                    <a:srgbClr val="595959">
                      <a:alpha val="5000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defRPr>
            </a:lvl1pPr>
          </a:lstStyle>
          <a:p>
            <a:r>
              <a:rPr lang="en-US" altLang="ko-KR" dirty="0"/>
              <a:t>Put Your Title Here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 hasCustomPrompt="1"/>
          </p:nvPr>
        </p:nvSpPr>
        <p:spPr>
          <a:xfrm>
            <a:off x="342900" y="895351"/>
            <a:ext cx="6172200" cy="3699273"/>
          </a:xfrm>
        </p:spPr>
        <p:txBody>
          <a:bodyPr>
            <a:normAutofit/>
          </a:bodyPr>
          <a:lstStyle>
            <a:lvl1pPr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Noto Sans KR Light" panose="020B0200000000000000" pitchFamily="50" charset="-127"/>
                <a:ea typeface="Noto Sans KR Light" panose="020B0200000000000000" pitchFamily="50" charset="-127"/>
              </a:defRPr>
            </a:lvl1pPr>
            <a:lvl2pPr>
              <a:defRPr sz="105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 KR Light" panose="020B0200000000000000" pitchFamily="50" charset="-127"/>
                <a:ea typeface="Noto Sans KR Light" panose="020B0200000000000000" pitchFamily="50" charset="-127"/>
              </a:defRPr>
            </a:lvl2pPr>
            <a:lvl3pPr>
              <a:defRPr sz="900">
                <a:solidFill>
                  <a:schemeClr val="tx1">
                    <a:lumMod val="65000"/>
                    <a:lumOff val="35000"/>
                  </a:schemeClr>
                </a:solidFill>
                <a:latin typeface="Noto Sans KR Light" panose="020B0200000000000000" pitchFamily="50" charset="-127"/>
                <a:ea typeface="Noto Sans KR Light" panose="020B0200000000000000" pitchFamily="50" charset="-127"/>
              </a:defRPr>
            </a:lvl3pPr>
            <a:lvl4pPr>
              <a:defRPr sz="825">
                <a:solidFill>
                  <a:schemeClr val="tx1">
                    <a:lumMod val="65000"/>
                    <a:lumOff val="35000"/>
                  </a:schemeClr>
                </a:solidFill>
                <a:latin typeface="Noto Sans KR Light" panose="020B0200000000000000" pitchFamily="50" charset="-127"/>
                <a:ea typeface="Noto Sans KR Light" panose="020B0200000000000000" pitchFamily="50" charset="-127"/>
              </a:defRPr>
            </a:lvl4pPr>
            <a:lvl5pPr>
              <a:defRPr sz="825">
                <a:solidFill>
                  <a:schemeClr val="tx1">
                    <a:lumMod val="65000"/>
                    <a:lumOff val="35000"/>
                  </a:schemeClr>
                </a:solidFill>
                <a:latin typeface="Noto Sans KR Light" panose="020B0200000000000000" pitchFamily="50" charset="-127"/>
                <a:ea typeface="Noto Sans KR Light" panose="020B0200000000000000" pitchFamily="50" charset="-127"/>
              </a:defRPr>
            </a:lvl5pPr>
          </a:lstStyle>
          <a:p>
            <a:pPr lvl="0"/>
            <a:r>
              <a:rPr lang="en-US" altLang="ko-KR" dirty="0"/>
              <a:t>This is Content</a:t>
            </a:r>
            <a:endParaRPr lang="ko-KR" altLang="en-US" dirty="0"/>
          </a:p>
          <a:p>
            <a:pPr lvl="1"/>
            <a:r>
              <a:rPr lang="en-US" altLang="ko-KR" dirty="0" err="1"/>
              <a:t>Subcontent</a:t>
            </a:r>
            <a:r>
              <a:rPr lang="en-US" altLang="ko-KR" dirty="0"/>
              <a:t> 1</a:t>
            </a:r>
            <a:endParaRPr lang="ko-KR" altLang="en-US" dirty="0"/>
          </a:p>
          <a:p>
            <a:pPr lvl="2"/>
            <a:r>
              <a:rPr lang="en-US" altLang="ko-KR" dirty="0" err="1"/>
              <a:t>Subcontent</a:t>
            </a:r>
            <a:r>
              <a:rPr lang="en-US" altLang="ko-KR" dirty="0"/>
              <a:t> 2</a:t>
            </a:r>
            <a:endParaRPr lang="ko-KR" altLang="en-US" dirty="0"/>
          </a:p>
          <a:p>
            <a:pPr lvl="3"/>
            <a:r>
              <a:rPr lang="en-US" altLang="ko-KR" dirty="0" err="1"/>
              <a:t>Subcontent</a:t>
            </a:r>
            <a:r>
              <a:rPr lang="en-US" altLang="ko-KR" dirty="0"/>
              <a:t> 3</a:t>
            </a:r>
            <a:endParaRPr lang="ko-KR" altLang="en-US" dirty="0"/>
          </a:p>
          <a:p>
            <a:pPr lvl="4"/>
            <a:r>
              <a:rPr lang="en-US" altLang="ko-KR" dirty="0" err="1"/>
              <a:t>Subcontent</a:t>
            </a:r>
            <a:r>
              <a:rPr lang="en-US" altLang="ko-KR" dirty="0"/>
              <a:t> 4</a:t>
            </a:r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4939797" y="88106"/>
            <a:ext cx="1600200" cy="273844"/>
          </a:xfrm>
        </p:spPr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 dirty="0"/>
          </a:p>
        </p:txBody>
      </p:sp>
      <p:sp>
        <p:nvSpPr>
          <p:cNvPr id="34" name="직사각형 33"/>
          <p:cNvSpPr/>
          <p:nvPr userDrawn="1"/>
        </p:nvSpPr>
        <p:spPr>
          <a:xfrm>
            <a:off x="-596" y="434082"/>
            <a:ext cx="370284" cy="339824"/>
          </a:xfrm>
          <a:prstGeom prst="rect">
            <a:avLst/>
          </a:prstGeom>
          <a:solidFill>
            <a:srgbClr val="7CBAC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 dirty="0"/>
          </a:p>
        </p:txBody>
      </p:sp>
      <p:pic>
        <p:nvPicPr>
          <p:cNvPr id="19" name="그림 1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5082536"/>
            <a:ext cx="6858000" cy="60965"/>
          </a:xfrm>
          <a:prstGeom prst="rect">
            <a:avLst/>
          </a:prstGeom>
        </p:spPr>
      </p:pic>
      <p:cxnSp>
        <p:nvCxnSpPr>
          <p:cNvPr id="27" name="직선 연결선 26"/>
          <p:cNvCxnSpPr/>
          <p:nvPr userDrawn="1"/>
        </p:nvCxnSpPr>
        <p:spPr>
          <a:xfrm>
            <a:off x="369688" y="819150"/>
            <a:ext cx="614541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342900" y="438150"/>
            <a:ext cx="6172200" cy="324036"/>
          </a:xfrm>
        </p:spPr>
        <p:txBody>
          <a:bodyPr>
            <a:noAutofit/>
          </a:bodyPr>
          <a:lstStyle>
            <a:lvl1pPr algn="l">
              <a:defRPr sz="2100" b="1" baseline="0">
                <a:ln>
                  <a:solidFill>
                    <a:srgbClr val="595959">
                      <a:alpha val="5000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r>
              <a:rPr lang="en-US" altLang="ko-KR" dirty="0"/>
              <a:t>Put Your Title Here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 hasCustomPrompt="1"/>
          </p:nvPr>
        </p:nvSpPr>
        <p:spPr>
          <a:xfrm>
            <a:off x="342900" y="895351"/>
            <a:ext cx="6172200" cy="3699273"/>
          </a:xfrm>
        </p:spPr>
        <p:txBody>
          <a:bodyPr>
            <a:normAutofit/>
          </a:bodyPr>
          <a:lstStyle>
            <a:lvl1pPr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ambria" panose="02040503050406030204" pitchFamily="18" charset="0"/>
              </a:defRPr>
            </a:lvl1pPr>
            <a:lvl2pPr>
              <a:defRPr sz="1050" baseline="0">
                <a:solidFill>
                  <a:schemeClr val="tx1">
                    <a:lumMod val="65000"/>
                    <a:lumOff val="35000"/>
                  </a:schemeClr>
                </a:solidFill>
                <a:latin typeface="Cambria" panose="02040503050406030204" pitchFamily="18" charset="0"/>
              </a:defRPr>
            </a:lvl2pPr>
            <a:lvl3pPr>
              <a:defRPr sz="900">
                <a:solidFill>
                  <a:schemeClr val="tx1">
                    <a:lumMod val="65000"/>
                    <a:lumOff val="35000"/>
                  </a:schemeClr>
                </a:solidFill>
                <a:latin typeface="Cambria" panose="02040503050406030204" pitchFamily="18" charset="0"/>
              </a:defRPr>
            </a:lvl3pPr>
            <a:lvl4pPr>
              <a:defRPr sz="825">
                <a:solidFill>
                  <a:schemeClr val="tx1">
                    <a:lumMod val="65000"/>
                    <a:lumOff val="35000"/>
                  </a:schemeClr>
                </a:solidFill>
                <a:latin typeface="Cambria" panose="02040503050406030204" pitchFamily="18" charset="0"/>
              </a:defRPr>
            </a:lvl4pPr>
            <a:lvl5pPr>
              <a:defRPr sz="825">
                <a:solidFill>
                  <a:schemeClr val="tx1">
                    <a:lumMod val="65000"/>
                    <a:lumOff val="35000"/>
                  </a:schemeClr>
                </a:solidFill>
                <a:latin typeface="Cambria" panose="02040503050406030204" pitchFamily="18" charset="0"/>
              </a:defRPr>
            </a:lvl5pPr>
          </a:lstStyle>
          <a:p>
            <a:pPr lvl="0"/>
            <a:r>
              <a:rPr lang="en-US" altLang="ko-KR" dirty="0"/>
              <a:t>This is Content</a:t>
            </a:r>
            <a:endParaRPr lang="ko-KR" altLang="en-US" dirty="0"/>
          </a:p>
          <a:p>
            <a:pPr lvl="1"/>
            <a:r>
              <a:rPr lang="en-US" altLang="ko-KR" dirty="0" err="1"/>
              <a:t>Subcontent</a:t>
            </a:r>
            <a:r>
              <a:rPr lang="en-US" altLang="ko-KR" dirty="0"/>
              <a:t> 1</a:t>
            </a:r>
            <a:endParaRPr lang="ko-KR" altLang="en-US" dirty="0"/>
          </a:p>
          <a:p>
            <a:pPr lvl="2"/>
            <a:r>
              <a:rPr lang="en-US" altLang="ko-KR" dirty="0" err="1"/>
              <a:t>Subcontent</a:t>
            </a:r>
            <a:r>
              <a:rPr lang="en-US" altLang="ko-KR" dirty="0"/>
              <a:t> 2</a:t>
            </a:r>
            <a:endParaRPr lang="ko-KR" altLang="en-US" dirty="0"/>
          </a:p>
          <a:p>
            <a:pPr lvl="3"/>
            <a:r>
              <a:rPr lang="en-US" altLang="ko-KR" dirty="0" err="1"/>
              <a:t>Subcontent</a:t>
            </a:r>
            <a:r>
              <a:rPr lang="en-US" altLang="ko-KR" dirty="0"/>
              <a:t> 3</a:t>
            </a:r>
            <a:endParaRPr lang="ko-KR" altLang="en-US" dirty="0"/>
          </a:p>
          <a:p>
            <a:pPr lvl="4"/>
            <a:r>
              <a:rPr lang="en-US" altLang="ko-KR" dirty="0" err="1"/>
              <a:t>Subcontent</a:t>
            </a:r>
            <a:r>
              <a:rPr lang="en-US" altLang="ko-KR" dirty="0"/>
              <a:t> 4</a:t>
            </a:r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4914900" y="103584"/>
            <a:ext cx="1600200" cy="273844"/>
          </a:xfrm>
        </p:spPr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 dirty="0"/>
          </a:p>
        </p:txBody>
      </p:sp>
      <p:sp>
        <p:nvSpPr>
          <p:cNvPr id="34" name="직사각형 33"/>
          <p:cNvSpPr/>
          <p:nvPr userDrawn="1"/>
        </p:nvSpPr>
        <p:spPr>
          <a:xfrm>
            <a:off x="-596" y="434082"/>
            <a:ext cx="370284" cy="339824"/>
          </a:xfrm>
          <a:prstGeom prst="rect">
            <a:avLst/>
          </a:prstGeom>
          <a:solidFill>
            <a:srgbClr val="01A6B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 dirty="0"/>
          </a:p>
        </p:txBody>
      </p:sp>
      <p:pic>
        <p:nvPicPr>
          <p:cNvPr id="19" name="그림 1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5082536"/>
            <a:ext cx="6858000" cy="60965"/>
          </a:xfrm>
          <a:prstGeom prst="rect">
            <a:avLst/>
          </a:prstGeom>
        </p:spPr>
      </p:pic>
      <p:cxnSp>
        <p:nvCxnSpPr>
          <p:cNvPr id="27" name="직선 연결선 26"/>
          <p:cNvCxnSpPr/>
          <p:nvPr userDrawn="1"/>
        </p:nvCxnSpPr>
        <p:spPr>
          <a:xfrm>
            <a:off x="369688" y="819150"/>
            <a:ext cx="614541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402053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342900" y="438150"/>
            <a:ext cx="6172200" cy="324036"/>
          </a:xfrm>
        </p:spPr>
        <p:txBody>
          <a:bodyPr>
            <a:noAutofit/>
          </a:bodyPr>
          <a:lstStyle>
            <a:lvl1pPr algn="l">
              <a:defRPr sz="1400" b="1" baseline="0">
                <a:ln>
                  <a:noFill/>
                </a:ln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ko-KR" dirty="0"/>
              <a:t>Put Your Title Here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 hasCustomPrompt="1"/>
          </p:nvPr>
        </p:nvSpPr>
        <p:spPr>
          <a:xfrm>
            <a:off x="342900" y="895351"/>
            <a:ext cx="6172200" cy="3699273"/>
          </a:xfrm>
        </p:spPr>
        <p:txBody>
          <a:bodyPr>
            <a:normAutofit/>
          </a:bodyPr>
          <a:lstStyle>
            <a:lvl1pPr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ambria" panose="02040503050406030204" pitchFamily="18" charset="0"/>
              </a:defRPr>
            </a:lvl1pPr>
            <a:lvl2pPr>
              <a:defRPr sz="1050" baseline="0">
                <a:solidFill>
                  <a:schemeClr val="tx1">
                    <a:lumMod val="65000"/>
                    <a:lumOff val="35000"/>
                  </a:schemeClr>
                </a:solidFill>
                <a:latin typeface="Cambria" panose="02040503050406030204" pitchFamily="18" charset="0"/>
              </a:defRPr>
            </a:lvl2pPr>
            <a:lvl3pPr>
              <a:defRPr sz="900">
                <a:solidFill>
                  <a:schemeClr val="tx1">
                    <a:lumMod val="65000"/>
                    <a:lumOff val="35000"/>
                  </a:schemeClr>
                </a:solidFill>
                <a:latin typeface="Cambria" panose="02040503050406030204" pitchFamily="18" charset="0"/>
              </a:defRPr>
            </a:lvl3pPr>
            <a:lvl4pPr>
              <a:defRPr sz="825">
                <a:solidFill>
                  <a:schemeClr val="tx1">
                    <a:lumMod val="65000"/>
                    <a:lumOff val="35000"/>
                  </a:schemeClr>
                </a:solidFill>
                <a:latin typeface="Cambria" panose="02040503050406030204" pitchFamily="18" charset="0"/>
              </a:defRPr>
            </a:lvl4pPr>
            <a:lvl5pPr>
              <a:defRPr sz="825">
                <a:solidFill>
                  <a:schemeClr val="tx1">
                    <a:lumMod val="65000"/>
                    <a:lumOff val="35000"/>
                  </a:schemeClr>
                </a:solidFill>
                <a:latin typeface="Cambria" panose="02040503050406030204" pitchFamily="18" charset="0"/>
              </a:defRPr>
            </a:lvl5pPr>
          </a:lstStyle>
          <a:p>
            <a:pPr lvl="0"/>
            <a:r>
              <a:rPr lang="en-US" altLang="ko-KR" dirty="0"/>
              <a:t>This is Content</a:t>
            </a:r>
            <a:endParaRPr lang="ko-KR" altLang="en-US" dirty="0"/>
          </a:p>
          <a:p>
            <a:pPr lvl="1"/>
            <a:r>
              <a:rPr lang="en-US" altLang="ko-KR" dirty="0" err="1"/>
              <a:t>Subcontent</a:t>
            </a:r>
            <a:r>
              <a:rPr lang="en-US" altLang="ko-KR" dirty="0"/>
              <a:t> 1</a:t>
            </a:r>
            <a:endParaRPr lang="ko-KR" altLang="en-US" dirty="0"/>
          </a:p>
          <a:p>
            <a:pPr lvl="2"/>
            <a:r>
              <a:rPr lang="en-US" altLang="ko-KR" dirty="0" err="1"/>
              <a:t>Subcontent</a:t>
            </a:r>
            <a:r>
              <a:rPr lang="en-US" altLang="ko-KR" dirty="0"/>
              <a:t> 2</a:t>
            </a:r>
            <a:endParaRPr lang="ko-KR" altLang="en-US" dirty="0"/>
          </a:p>
          <a:p>
            <a:pPr lvl="3"/>
            <a:r>
              <a:rPr lang="en-US" altLang="ko-KR" dirty="0" err="1"/>
              <a:t>Subcontent</a:t>
            </a:r>
            <a:r>
              <a:rPr lang="en-US" altLang="ko-KR" dirty="0"/>
              <a:t> 3</a:t>
            </a:r>
            <a:endParaRPr lang="ko-KR" altLang="en-US" dirty="0"/>
          </a:p>
          <a:p>
            <a:pPr lvl="4"/>
            <a:r>
              <a:rPr lang="en-US" altLang="ko-KR" dirty="0" err="1"/>
              <a:t>Subcontent</a:t>
            </a:r>
            <a:r>
              <a:rPr lang="en-US" altLang="ko-KR" dirty="0"/>
              <a:t> 4</a:t>
            </a:r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4914900" y="143262"/>
            <a:ext cx="1600200" cy="273844"/>
          </a:xfrm>
        </p:spPr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 dirty="0"/>
          </a:p>
        </p:txBody>
      </p:sp>
      <p:sp>
        <p:nvSpPr>
          <p:cNvPr id="34" name="직사각형 33"/>
          <p:cNvSpPr/>
          <p:nvPr userDrawn="1"/>
        </p:nvSpPr>
        <p:spPr>
          <a:xfrm>
            <a:off x="-596" y="434082"/>
            <a:ext cx="370284" cy="339824"/>
          </a:xfrm>
          <a:prstGeom prst="rect">
            <a:avLst/>
          </a:prstGeom>
          <a:solidFill>
            <a:srgbClr val="00658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 dirty="0"/>
          </a:p>
        </p:txBody>
      </p:sp>
      <p:pic>
        <p:nvPicPr>
          <p:cNvPr id="19" name="그림 1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5082536"/>
            <a:ext cx="6858000" cy="60965"/>
          </a:xfrm>
          <a:prstGeom prst="rect">
            <a:avLst/>
          </a:prstGeom>
        </p:spPr>
      </p:pic>
      <p:cxnSp>
        <p:nvCxnSpPr>
          <p:cNvPr id="28" name="직선 연결선 27"/>
          <p:cNvCxnSpPr/>
          <p:nvPr userDrawn="1"/>
        </p:nvCxnSpPr>
        <p:spPr>
          <a:xfrm>
            <a:off x="369688" y="819150"/>
            <a:ext cx="614541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15774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16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342900" y="438150"/>
            <a:ext cx="6172200" cy="324036"/>
          </a:xfrm>
        </p:spPr>
        <p:txBody>
          <a:bodyPr>
            <a:noAutofit/>
          </a:bodyPr>
          <a:lstStyle>
            <a:lvl1pPr algn="l">
              <a:defRPr sz="2100" b="1" baseline="0">
                <a:ln>
                  <a:solidFill>
                    <a:srgbClr val="595959">
                      <a:alpha val="5000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r>
              <a:rPr lang="en-US" altLang="ko-KR" dirty="0"/>
              <a:t>Put Your Title Here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 hasCustomPrompt="1"/>
          </p:nvPr>
        </p:nvSpPr>
        <p:spPr>
          <a:xfrm>
            <a:off x="342900" y="895351"/>
            <a:ext cx="6172200" cy="3699273"/>
          </a:xfrm>
        </p:spPr>
        <p:txBody>
          <a:bodyPr>
            <a:normAutofit/>
          </a:bodyPr>
          <a:lstStyle>
            <a:lvl1pPr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ambria" panose="02040503050406030204" pitchFamily="18" charset="0"/>
              </a:defRPr>
            </a:lvl1pPr>
            <a:lvl2pPr>
              <a:defRPr sz="1050" baseline="0">
                <a:solidFill>
                  <a:schemeClr val="tx1">
                    <a:lumMod val="65000"/>
                    <a:lumOff val="35000"/>
                  </a:schemeClr>
                </a:solidFill>
                <a:latin typeface="Cambria" panose="02040503050406030204" pitchFamily="18" charset="0"/>
              </a:defRPr>
            </a:lvl2pPr>
            <a:lvl3pPr>
              <a:defRPr sz="900">
                <a:solidFill>
                  <a:schemeClr val="tx1">
                    <a:lumMod val="65000"/>
                    <a:lumOff val="35000"/>
                  </a:schemeClr>
                </a:solidFill>
                <a:latin typeface="Cambria" panose="02040503050406030204" pitchFamily="18" charset="0"/>
              </a:defRPr>
            </a:lvl3pPr>
            <a:lvl4pPr>
              <a:defRPr sz="825">
                <a:solidFill>
                  <a:schemeClr val="tx1">
                    <a:lumMod val="65000"/>
                    <a:lumOff val="35000"/>
                  </a:schemeClr>
                </a:solidFill>
                <a:latin typeface="Cambria" panose="02040503050406030204" pitchFamily="18" charset="0"/>
              </a:defRPr>
            </a:lvl4pPr>
            <a:lvl5pPr>
              <a:defRPr sz="825">
                <a:solidFill>
                  <a:schemeClr val="tx1">
                    <a:lumMod val="65000"/>
                    <a:lumOff val="35000"/>
                  </a:schemeClr>
                </a:solidFill>
                <a:latin typeface="Cambria" panose="02040503050406030204" pitchFamily="18" charset="0"/>
              </a:defRPr>
            </a:lvl5pPr>
          </a:lstStyle>
          <a:p>
            <a:pPr lvl="0"/>
            <a:r>
              <a:rPr lang="en-US" altLang="ko-KR" dirty="0"/>
              <a:t>This is Content</a:t>
            </a:r>
            <a:endParaRPr lang="ko-KR" altLang="en-US" dirty="0"/>
          </a:p>
          <a:p>
            <a:pPr lvl="1"/>
            <a:r>
              <a:rPr lang="en-US" altLang="ko-KR" dirty="0" err="1"/>
              <a:t>Subcontent</a:t>
            </a:r>
            <a:r>
              <a:rPr lang="en-US" altLang="ko-KR" dirty="0"/>
              <a:t> 1</a:t>
            </a:r>
            <a:endParaRPr lang="ko-KR" altLang="en-US" dirty="0"/>
          </a:p>
          <a:p>
            <a:pPr lvl="2"/>
            <a:r>
              <a:rPr lang="en-US" altLang="ko-KR" dirty="0" err="1"/>
              <a:t>Subcontent</a:t>
            </a:r>
            <a:r>
              <a:rPr lang="en-US" altLang="ko-KR" dirty="0"/>
              <a:t> 2</a:t>
            </a:r>
            <a:endParaRPr lang="ko-KR" altLang="en-US" dirty="0"/>
          </a:p>
          <a:p>
            <a:pPr lvl="3"/>
            <a:r>
              <a:rPr lang="en-US" altLang="ko-KR" dirty="0" err="1"/>
              <a:t>Subcontent</a:t>
            </a:r>
            <a:r>
              <a:rPr lang="en-US" altLang="ko-KR" dirty="0"/>
              <a:t> 3</a:t>
            </a:r>
            <a:endParaRPr lang="ko-KR" altLang="en-US" dirty="0"/>
          </a:p>
          <a:p>
            <a:pPr lvl="4"/>
            <a:r>
              <a:rPr lang="en-US" altLang="ko-KR" dirty="0" err="1"/>
              <a:t>Subcontent</a:t>
            </a:r>
            <a:r>
              <a:rPr lang="en-US" altLang="ko-KR" dirty="0"/>
              <a:t> 4</a:t>
            </a:r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 dirty="0"/>
          </a:p>
        </p:txBody>
      </p:sp>
      <p:sp>
        <p:nvSpPr>
          <p:cNvPr id="34" name="직사각형 33"/>
          <p:cNvSpPr/>
          <p:nvPr userDrawn="1"/>
        </p:nvSpPr>
        <p:spPr>
          <a:xfrm>
            <a:off x="-596" y="434082"/>
            <a:ext cx="370284" cy="339824"/>
          </a:xfrm>
          <a:prstGeom prst="rect">
            <a:avLst/>
          </a:prstGeom>
          <a:solidFill>
            <a:srgbClr val="E8E4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 dirty="0"/>
          </a:p>
        </p:txBody>
      </p:sp>
      <p:pic>
        <p:nvPicPr>
          <p:cNvPr id="19" name="그림 1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5082536"/>
            <a:ext cx="6858000" cy="60965"/>
          </a:xfrm>
          <a:prstGeom prst="rect">
            <a:avLst/>
          </a:prstGeom>
        </p:spPr>
      </p:pic>
      <p:cxnSp>
        <p:nvCxnSpPr>
          <p:cNvPr id="28" name="직선 연결선 27"/>
          <p:cNvCxnSpPr/>
          <p:nvPr userDrawn="1"/>
        </p:nvCxnSpPr>
        <p:spPr>
          <a:xfrm>
            <a:off x="369688" y="819150"/>
            <a:ext cx="614541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68459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342900" y="438150"/>
            <a:ext cx="6172200" cy="324036"/>
          </a:xfrm>
        </p:spPr>
        <p:txBody>
          <a:bodyPr>
            <a:noAutofit/>
          </a:bodyPr>
          <a:lstStyle>
            <a:lvl1pPr algn="l">
              <a:defRPr sz="2100" b="1" baseline="0">
                <a:ln>
                  <a:solidFill>
                    <a:srgbClr val="595959">
                      <a:alpha val="5000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r>
              <a:rPr lang="en-US" altLang="ko-KR" dirty="0"/>
              <a:t>Put Your Title Here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 hasCustomPrompt="1"/>
          </p:nvPr>
        </p:nvSpPr>
        <p:spPr>
          <a:xfrm>
            <a:off x="342900" y="895351"/>
            <a:ext cx="6172200" cy="3699273"/>
          </a:xfrm>
        </p:spPr>
        <p:txBody>
          <a:bodyPr>
            <a:normAutofit/>
          </a:bodyPr>
          <a:lstStyle>
            <a:lvl1pPr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ambria" panose="02040503050406030204" pitchFamily="18" charset="0"/>
              </a:defRPr>
            </a:lvl1pPr>
            <a:lvl2pPr>
              <a:defRPr sz="1050" baseline="0">
                <a:solidFill>
                  <a:schemeClr val="tx1">
                    <a:lumMod val="65000"/>
                    <a:lumOff val="35000"/>
                  </a:schemeClr>
                </a:solidFill>
                <a:latin typeface="Cambria" panose="02040503050406030204" pitchFamily="18" charset="0"/>
              </a:defRPr>
            </a:lvl2pPr>
            <a:lvl3pPr>
              <a:defRPr sz="900">
                <a:solidFill>
                  <a:schemeClr val="tx1">
                    <a:lumMod val="65000"/>
                    <a:lumOff val="35000"/>
                  </a:schemeClr>
                </a:solidFill>
                <a:latin typeface="Cambria" panose="02040503050406030204" pitchFamily="18" charset="0"/>
              </a:defRPr>
            </a:lvl3pPr>
            <a:lvl4pPr>
              <a:defRPr sz="825">
                <a:solidFill>
                  <a:schemeClr val="tx1">
                    <a:lumMod val="65000"/>
                    <a:lumOff val="35000"/>
                  </a:schemeClr>
                </a:solidFill>
                <a:latin typeface="Cambria" panose="02040503050406030204" pitchFamily="18" charset="0"/>
              </a:defRPr>
            </a:lvl4pPr>
            <a:lvl5pPr>
              <a:defRPr sz="825">
                <a:solidFill>
                  <a:schemeClr val="tx1">
                    <a:lumMod val="65000"/>
                    <a:lumOff val="35000"/>
                  </a:schemeClr>
                </a:solidFill>
                <a:latin typeface="Cambria" panose="02040503050406030204" pitchFamily="18" charset="0"/>
              </a:defRPr>
            </a:lvl5pPr>
          </a:lstStyle>
          <a:p>
            <a:pPr lvl="0"/>
            <a:r>
              <a:rPr lang="en-US" altLang="ko-KR" dirty="0"/>
              <a:t>This is Content</a:t>
            </a:r>
            <a:endParaRPr lang="ko-KR" altLang="en-US" dirty="0"/>
          </a:p>
          <a:p>
            <a:pPr lvl="1"/>
            <a:r>
              <a:rPr lang="en-US" altLang="ko-KR" dirty="0" err="1"/>
              <a:t>Subcontent</a:t>
            </a:r>
            <a:r>
              <a:rPr lang="en-US" altLang="ko-KR" dirty="0"/>
              <a:t> 1</a:t>
            </a:r>
            <a:endParaRPr lang="ko-KR" altLang="en-US" dirty="0"/>
          </a:p>
          <a:p>
            <a:pPr lvl="2"/>
            <a:r>
              <a:rPr lang="en-US" altLang="ko-KR" dirty="0" err="1"/>
              <a:t>Subcontent</a:t>
            </a:r>
            <a:r>
              <a:rPr lang="en-US" altLang="ko-KR" dirty="0"/>
              <a:t> 2</a:t>
            </a:r>
            <a:endParaRPr lang="ko-KR" altLang="en-US" dirty="0"/>
          </a:p>
          <a:p>
            <a:pPr lvl="3"/>
            <a:r>
              <a:rPr lang="en-US" altLang="ko-KR" dirty="0" err="1"/>
              <a:t>Subcontent</a:t>
            </a:r>
            <a:r>
              <a:rPr lang="en-US" altLang="ko-KR" dirty="0"/>
              <a:t> 3</a:t>
            </a:r>
            <a:endParaRPr lang="ko-KR" altLang="en-US" dirty="0"/>
          </a:p>
          <a:p>
            <a:pPr lvl="4"/>
            <a:r>
              <a:rPr lang="en-US" altLang="ko-KR" dirty="0" err="1"/>
              <a:t>Subcontent</a:t>
            </a:r>
            <a:r>
              <a:rPr lang="en-US" altLang="ko-KR" dirty="0"/>
              <a:t> 4</a:t>
            </a:r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 dirty="0"/>
          </a:p>
        </p:txBody>
      </p:sp>
      <p:sp>
        <p:nvSpPr>
          <p:cNvPr id="34" name="직사각형 33"/>
          <p:cNvSpPr/>
          <p:nvPr userDrawn="1"/>
        </p:nvSpPr>
        <p:spPr>
          <a:xfrm>
            <a:off x="-596" y="434082"/>
            <a:ext cx="370284" cy="339824"/>
          </a:xfrm>
          <a:prstGeom prst="rect">
            <a:avLst/>
          </a:prstGeom>
          <a:solidFill>
            <a:srgbClr val="B3A1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 dirty="0"/>
          </a:p>
        </p:txBody>
      </p:sp>
      <p:pic>
        <p:nvPicPr>
          <p:cNvPr id="19" name="그림 1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5082536"/>
            <a:ext cx="6858000" cy="60965"/>
          </a:xfrm>
          <a:prstGeom prst="rect">
            <a:avLst/>
          </a:prstGeom>
        </p:spPr>
      </p:pic>
      <p:cxnSp>
        <p:nvCxnSpPr>
          <p:cNvPr id="28" name="직선 연결선 27"/>
          <p:cNvCxnSpPr/>
          <p:nvPr userDrawn="1"/>
        </p:nvCxnSpPr>
        <p:spPr>
          <a:xfrm>
            <a:off x="369688" y="819150"/>
            <a:ext cx="614541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025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/>
          <p:cNvGrpSpPr/>
          <p:nvPr userDrawn="1"/>
        </p:nvGrpSpPr>
        <p:grpSpPr>
          <a:xfrm>
            <a:off x="2179214" y="5086350"/>
            <a:ext cx="2429154" cy="57150"/>
            <a:chOff x="3276600" y="2114550"/>
            <a:chExt cx="3238872" cy="144016"/>
          </a:xfrm>
        </p:grpSpPr>
        <p:grpSp>
          <p:nvGrpSpPr>
            <p:cNvPr id="5" name="그룹 4"/>
            <p:cNvGrpSpPr/>
            <p:nvPr userDrawn="1"/>
          </p:nvGrpSpPr>
          <p:grpSpPr>
            <a:xfrm>
              <a:off x="3276600" y="2114550"/>
              <a:ext cx="2592288" cy="144016"/>
              <a:chOff x="3275856" y="2767383"/>
              <a:chExt cx="2592288" cy="144016"/>
            </a:xfrm>
          </p:grpSpPr>
          <p:sp>
            <p:nvSpPr>
              <p:cNvPr id="7" name="직사각형 6"/>
              <p:cNvSpPr/>
              <p:nvPr userDrawn="1"/>
            </p:nvSpPr>
            <p:spPr>
              <a:xfrm>
                <a:off x="3275856" y="2767383"/>
                <a:ext cx="648072" cy="144016"/>
              </a:xfrm>
              <a:prstGeom prst="rect">
                <a:avLst/>
              </a:prstGeom>
              <a:solidFill>
                <a:srgbClr val="7CBAC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350" dirty="0"/>
              </a:p>
            </p:txBody>
          </p:sp>
          <p:sp>
            <p:nvSpPr>
              <p:cNvPr id="8" name="직사각형 7"/>
              <p:cNvSpPr/>
              <p:nvPr userDrawn="1"/>
            </p:nvSpPr>
            <p:spPr>
              <a:xfrm>
                <a:off x="3923928" y="2767383"/>
                <a:ext cx="648072" cy="144016"/>
              </a:xfrm>
              <a:prstGeom prst="rect">
                <a:avLst/>
              </a:prstGeom>
              <a:solidFill>
                <a:srgbClr val="01A6B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350" dirty="0"/>
              </a:p>
            </p:txBody>
          </p:sp>
          <p:sp>
            <p:nvSpPr>
              <p:cNvPr id="9" name="직사각형 8"/>
              <p:cNvSpPr/>
              <p:nvPr userDrawn="1"/>
            </p:nvSpPr>
            <p:spPr>
              <a:xfrm>
                <a:off x="4572000" y="2767383"/>
                <a:ext cx="648072" cy="144016"/>
              </a:xfrm>
              <a:prstGeom prst="rect">
                <a:avLst/>
              </a:prstGeom>
              <a:solidFill>
                <a:srgbClr val="00658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350" dirty="0"/>
              </a:p>
            </p:txBody>
          </p:sp>
          <p:sp>
            <p:nvSpPr>
              <p:cNvPr id="10" name="직사각형 9"/>
              <p:cNvSpPr/>
              <p:nvPr userDrawn="1"/>
            </p:nvSpPr>
            <p:spPr>
              <a:xfrm>
                <a:off x="5220072" y="2767383"/>
                <a:ext cx="648072" cy="144016"/>
              </a:xfrm>
              <a:prstGeom prst="rect">
                <a:avLst/>
              </a:prstGeom>
              <a:solidFill>
                <a:srgbClr val="E8E4D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350" dirty="0"/>
              </a:p>
            </p:txBody>
          </p:sp>
        </p:grpSp>
        <p:sp>
          <p:nvSpPr>
            <p:cNvPr id="6" name="직사각형 5"/>
            <p:cNvSpPr/>
            <p:nvPr userDrawn="1"/>
          </p:nvSpPr>
          <p:spPr>
            <a:xfrm>
              <a:off x="5867400" y="2114550"/>
              <a:ext cx="648072" cy="144016"/>
            </a:xfrm>
            <a:prstGeom prst="rect">
              <a:avLst/>
            </a:prstGeom>
            <a:solidFill>
              <a:srgbClr val="B3A1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50" dirty="0"/>
            </a:p>
          </p:txBody>
        </p:sp>
      </p:grpSp>
    </p:spTree>
    <p:extLst>
      <p:ext uri="{BB962C8B-B14F-4D97-AF65-F5344CB8AC3E}">
        <p14:creationId xmlns:p14="http://schemas.microsoft.com/office/powerpoint/2010/main" val="41262399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205979"/>
            <a:ext cx="6172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1200151"/>
            <a:ext cx="61722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EDD84E-25D4-4983-8AA1-2863C96F08D9}" type="slidenum">
              <a:rPr lang="ko-KR" altLang="en-US" smtClean="0"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2" r:id="rId3"/>
    <p:sldLayoutId id="2147483673" r:id="rId4"/>
    <p:sldLayoutId id="2147483674" r:id="rId5"/>
    <p:sldLayoutId id="2147483675" r:id="rId6"/>
    <p:sldLayoutId id="2147483676" r:id="rId7"/>
  </p:sldLayoutIdLst>
  <p:hf hdr="0" ftr="0" dt="0"/>
  <p:txStyles>
    <p:titleStyle>
      <a:lvl1pPr algn="ctr" defTabSz="685800" rtl="0" eaLnBrk="1" latinLnBrk="1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6858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defTabSz="685800" rtl="0" eaLnBrk="1" latinLnBrk="1" hangingPunct="1">
        <a:spcBef>
          <a:spcPct val="20000"/>
        </a:spcBef>
        <a:buFont typeface="Arial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1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1" hangingPunct="1">
        <a:spcBef>
          <a:spcPct val="20000"/>
        </a:spcBef>
        <a:buFont typeface="Arial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1" hangingPunct="1">
        <a:spcBef>
          <a:spcPct val="20000"/>
        </a:spcBef>
        <a:buFont typeface="Arial" pitchFamily="34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1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FA9A9F7-B7C3-4020-8D9A-6E9AF1DDCE3C}"/>
              </a:ext>
            </a:extLst>
          </p:cNvPr>
          <p:cNvSpPr txBox="1"/>
          <p:nvPr/>
        </p:nvSpPr>
        <p:spPr>
          <a:xfrm>
            <a:off x="152400" y="2019240"/>
            <a:ext cx="6477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Online Learning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CBB6D4A-6EAE-4621-8F61-40F4F930846B}"/>
              </a:ext>
            </a:extLst>
          </p:cNvPr>
          <p:cNvSpPr txBox="1"/>
          <p:nvPr/>
        </p:nvSpPr>
        <p:spPr>
          <a:xfrm>
            <a:off x="419100" y="3105150"/>
            <a:ext cx="6019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aseline="300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2026.09.04</a:t>
            </a:r>
          </a:p>
          <a:p>
            <a:pPr algn="ctr"/>
            <a:r>
              <a:rPr lang="en-US" altLang="ko-KR" baseline="300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Taekhyun</a:t>
            </a:r>
            <a:r>
              <a:rPr lang="en-US" altLang="ko-KR" baseline="300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Park</a:t>
            </a:r>
            <a:endParaRPr lang="ko-KR" altLang="en-US" baseline="300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09156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5B2158-A1D7-2739-57CF-C5226E9B48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AB29C2-2BCA-D78E-22DB-AB2E6896CC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" y="344671"/>
            <a:ext cx="6286500" cy="470855"/>
          </a:xfrm>
        </p:spPr>
        <p:txBody>
          <a:bodyPr/>
          <a:lstStyle/>
          <a:p>
            <a:r>
              <a:rPr lang="en-US" altLang="ko-KR" sz="1400" dirty="0">
                <a:ln>
                  <a:noFill/>
                </a:ln>
                <a:solidFill>
                  <a:sysClr val="windowText" lastClr="000000"/>
                </a:solidFill>
                <a:latin typeface="Times New Roman" panose="02020603050405020304" pitchFamily="18" charset="0"/>
                <a:ea typeface="나눔스퀘어 Bold" panose="020B0600000101010101" pitchFamily="50" charset="-127"/>
                <a:cs typeface="Times New Roman" panose="02020603050405020304" pitchFamily="18" charset="0"/>
              </a:rPr>
              <a:t>Before </a:t>
            </a:r>
            <a:r>
              <a:rPr lang="en-US" altLang="ko-KR" sz="1400" dirty="0" err="1">
                <a:ln>
                  <a:noFill/>
                </a:ln>
                <a:solidFill>
                  <a:sysClr val="windowText" lastClr="000000"/>
                </a:solidFill>
                <a:latin typeface="Times New Roman" panose="02020603050405020304" pitchFamily="18" charset="0"/>
                <a:ea typeface="나눔스퀘어 Bold" panose="020B0600000101010101" pitchFamily="50" charset="-127"/>
                <a:cs typeface="Times New Roman" panose="02020603050405020304" pitchFamily="18" charset="0"/>
              </a:rPr>
              <a:t>HiPPO</a:t>
            </a:r>
            <a:endParaRPr lang="ko-KR" altLang="en-US" sz="1400" dirty="0">
              <a:ln>
                <a:noFill/>
              </a:ln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773C189C-D798-646D-C769-44CF34A70A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951551"/>
            <a:ext cx="6477000" cy="3753799"/>
          </a:xfrm>
        </p:spPr>
        <p:txBody>
          <a:bodyPr vert="horz" lIns="91440" tIns="45720" rIns="91440" bIns="45720" rtlCol="0">
            <a:noAutofit/>
          </a:bodyPr>
          <a:lstStyle/>
          <a:p>
            <a:pPr>
              <a:lnSpc>
                <a:spcPct val="100000"/>
              </a:lnSpc>
            </a:pPr>
            <a:r>
              <a:rPr lang="ko-KR" altLang="en-US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Times New Roman" panose="02020603050405020304" pitchFamily="18" charset="0"/>
                <a:ea typeface="에스코어 드림 4 Regular" panose="020B0503030302020204" pitchFamily="34" charset="-127"/>
                <a:cs typeface="Times New Roman" panose="02020603050405020304" pitchFamily="18" charset="0"/>
              </a:rPr>
              <a:t>시대정신</a:t>
            </a:r>
            <a:r>
              <a:rPr lang="en-US" altLang="ko-KR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Times New Roman" panose="02020603050405020304" pitchFamily="18" charset="0"/>
                <a:ea typeface="에스코어 드림 4 Regular" panose="020B0503030302020204" pitchFamily="34" charset="-127"/>
                <a:cs typeface="Times New Roman" panose="02020603050405020304" pitchFamily="18" charset="0"/>
              </a:rPr>
              <a:t>: Sequence</a:t>
            </a:r>
            <a:r>
              <a:rPr lang="ko-KR" altLang="en-US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Times New Roman" panose="02020603050405020304" pitchFamily="18" charset="0"/>
                <a:ea typeface="에스코어 드림 4 Regular" panose="020B0503030302020204" pitchFamily="34" charset="-127"/>
                <a:cs typeface="Times New Roman" panose="02020603050405020304" pitchFamily="18" charset="0"/>
              </a:rPr>
              <a:t> </a:t>
            </a:r>
            <a:r>
              <a:rPr lang="en-US" altLang="ko-KR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Times New Roman" panose="02020603050405020304" pitchFamily="18" charset="0"/>
                <a:ea typeface="에스코어 드림 4 Regular" panose="020B0503030302020204" pitchFamily="34" charset="-127"/>
                <a:cs typeface="Times New Roman" panose="02020603050405020304" pitchFamily="18" charset="0"/>
              </a:rPr>
              <a:t>Modeling</a:t>
            </a:r>
            <a:r>
              <a:rPr lang="ko-KR" altLang="en-US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Times New Roman" panose="02020603050405020304" pitchFamily="18" charset="0"/>
                <a:ea typeface="에스코어 드림 4 Regular" panose="020B0503030302020204" pitchFamily="34" charset="-127"/>
                <a:cs typeface="Times New Roman" panose="02020603050405020304" pitchFamily="18" charset="0"/>
              </a:rPr>
              <a:t>을 할 때</a:t>
            </a:r>
            <a:r>
              <a:rPr lang="en-US" altLang="ko-KR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Times New Roman" panose="02020603050405020304" pitchFamily="18" charset="0"/>
                <a:ea typeface="에스코어 드림 4 Regular" panose="020B0503030302020204" pitchFamily="34" charset="-127"/>
                <a:cs typeface="Times New Roman" panose="02020603050405020304" pitchFamily="18" charset="0"/>
              </a:rPr>
              <a:t>, </a:t>
            </a:r>
            <a:r>
              <a:rPr lang="ko-KR" altLang="en-US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Times New Roman" panose="02020603050405020304" pitchFamily="18" charset="0"/>
                <a:ea typeface="에스코어 드림 4 Regular" panose="020B0503030302020204" pitchFamily="34" charset="-127"/>
                <a:cs typeface="Times New Roman" panose="02020603050405020304" pitchFamily="18" charset="0"/>
              </a:rPr>
              <a:t>변수를 어떻게 </a:t>
            </a:r>
            <a:r>
              <a:rPr lang="en-US" altLang="ko-KR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Times New Roman" panose="02020603050405020304" pitchFamily="18" charset="0"/>
                <a:ea typeface="에스코어 드림 4 Regular" panose="020B0503030302020204" pitchFamily="34" charset="-127"/>
                <a:cs typeface="Times New Roman" panose="02020603050405020304" pitchFamily="18" charset="0"/>
              </a:rPr>
              <a:t>Decomposition </a:t>
            </a:r>
            <a:r>
              <a:rPr lang="ko-KR" altLang="en-US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Times New Roman" panose="02020603050405020304" pitchFamily="18" charset="0"/>
                <a:ea typeface="에스코어 드림 4 Regular" panose="020B0503030302020204" pitchFamily="34" charset="-127"/>
                <a:cs typeface="Times New Roman" panose="02020603050405020304" pitchFamily="18" charset="0"/>
              </a:rPr>
              <a:t>해야 하고 이를 기반으로 어떻게 </a:t>
            </a:r>
            <a:r>
              <a:rPr lang="en-US" altLang="ko-KR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Times New Roman" panose="02020603050405020304" pitchFamily="18" charset="0"/>
                <a:ea typeface="에스코어 드림 4 Regular" panose="020B0503030302020204" pitchFamily="34" charset="-127"/>
                <a:cs typeface="Times New Roman" panose="02020603050405020304" pitchFamily="18" charset="0"/>
              </a:rPr>
              <a:t>Sequence Model</a:t>
            </a:r>
            <a:r>
              <a:rPr lang="ko-KR" altLang="en-US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Times New Roman" panose="02020603050405020304" pitchFamily="18" charset="0"/>
                <a:ea typeface="에스코어 드림 4 Regular" panose="020B0503030302020204" pitchFamily="34" charset="-127"/>
                <a:cs typeface="Times New Roman" panose="02020603050405020304" pitchFamily="18" charset="0"/>
              </a:rPr>
              <a:t>을 설계해야 하는가</a:t>
            </a:r>
            <a:r>
              <a:rPr lang="en-US" altLang="ko-KR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Times New Roman" panose="02020603050405020304" pitchFamily="18" charset="0"/>
                <a:ea typeface="에스코어 드림 4 Regular" panose="020B0503030302020204" pitchFamily="34" charset="-127"/>
                <a:cs typeface="Times New Roman" panose="02020603050405020304" pitchFamily="18" charset="0"/>
              </a:rPr>
              <a:t>?</a:t>
            </a:r>
          </a:p>
          <a:p>
            <a:pPr lvl="1"/>
            <a:r>
              <a:rPr lang="en-US" altLang="ko-KR" sz="11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Times New Roman" panose="02020603050405020304" pitchFamily="18" charset="0"/>
                <a:ea typeface="에스코어 드림 4 Regular" panose="020B0503030302020204" pitchFamily="34" charset="-127"/>
                <a:cs typeface="Times New Roman" panose="02020603050405020304" pitchFamily="18" charset="0"/>
              </a:rPr>
              <a:t>Legendre Memory Units </a:t>
            </a:r>
            <a:r>
              <a:rPr lang="en-US" altLang="ko-KR" sz="11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0070C0"/>
                </a:solidFill>
                <a:latin typeface="Times New Roman" panose="02020603050405020304" pitchFamily="18" charset="0"/>
                <a:ea typeface="에스코어 드림 4 Regular" panose="020B0503030302020204" pitchFamily="34" charset="-127"/>
                <a:cs typeface="Times New Roman" panose="02020603050405020304" pitchFamily="18" charset="0"/>
              </a:rPr>
              <a:t>(2019, </a:t>
            </a:r>
            <a:r>
              <a:rPr lang="en-US" altLang="ko-KR" sz="1100" dirty="0" err="1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0070C0"/>
                </a:solidFill>
                <a:latin typeface="Times New Roman" panose="02020603050405020304" pitchFamily="18" charset="0"/>
                <a:ea typeface="에스코어 드림 4 Regular" panose="020B0503030302020204" pitchFamily="34" charset="-127"/>
                <a:cs typeface="Times New Roman" panose="02020603050405020304" pitchFamily="18" charset="0"/>
              </a:rPr>
              <a:t>NeurIPS</a:t>
            </a:r>
            <a:r>
              <a:rPr lang="en-US" altLang="ko-KR" sz="11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0070C0"/>
                </a:solidFill>
                <a:latin typeface="Times New Roman" panose="02020603050405020304" pitchFamily="18" charset="0"/>
                <a:ea typeface="에스코어 드림 4 Regular" panose="020B0503030302020204" pitchFamily="34" charset="-127"/>
                <a:cs typeface="Times New Roman" panose="02020603050405020304" pitchFamily="18" charset="0"/>
              </a:rPr>
              <a:t>, Voelker et al.) </a:t>
            </a:r>
            <a:r>
              <a:rPr lang="en-US" altLang="ko-KR" sz="11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Times New Roman" panose="02020603050405020304" pitchFamily="18" charset="0"/>
                <a:ea typeface="에스코어 드림 4 Regular" panose="020B0503030302020204" pitchFamily="34" charset="-127"/>
                <a:cs typeface="Times New Roman" panose="02020603050405020304" pitchFamily="18" charset="0"/>
              </a:rPr>
              <a:t>: </a:t>
            </a:r>
            <a:r>
              <a:rPr lang="ko-KR" altLang="en-US" sz="11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Times New Roman" panose="02020603050405020304" pitchFamily="18" charset="0"/>
                <a:ea typeface="에스코어 드림 4 Regular" panose="020B0503030302020204" pitchFamily="34" charset="-127"/>
                <a:cs typeface="Times New Roman" panose="02020603050405020304" pitchFamily="18" charset="0"/>
              </a:rPr>
              <a:t>저장되는 메모리 값들과 데이터들을 </a:t>
            </a:r>
            <a:r>
              <a:rPr lang="en-US" altLang="ko-KR" sz="11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Times New Roman" panose="02020603050405020304" pitchFamily="18" charset="0"/>
                <a:ea typeface="에스코어 드림 4 Regular" panose="020B0503030302020204" pitchFamily="34" charset="-127"/>
                <a:cs typeface="Times New Roman" panose="02020603050405020304" pitchFamily="18" charset="0"/>
              </a:rPr>
              <a:t>Legendre Polynomial Basis</a:t>
            </a:r>
            <a:r>
              <a:rPr lang="ko-KR" altLang="en-US" sz="11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Times New Roman" panose="02020603050405020304" pitchFamily="18" charset="0"/>
                <a:ea typeface="에스코어 드림 4 Regular" panose="020B0503030302020204" pitchFamily="34" charset="-127"/>
                <a:cs typeface="Times New Roman" panose="02020603050405020304" pitchFamily="18" charset="0"/>
              </a:rPr>
              <a:t>로 </a:t>
            </a:r>
            <a:r>
              <a:rPr lang="en-US" altLang="ko-KR" sz="11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Times New Roman" panose="02020603050405020304" pitchFamily="18" charset="0"/>
                <a:ea typeface="에스코어 드림 4 Regular" panose="020B0503030302020204" pitchFamily="34" charset="-127"/>
                <a:cs typeface="Times New Roman" panose="02020603050405020304" pitchFamily="18" charset="0"/>
              </a:rPr>
              <a:t>Decomposition </a:t>
            </a:r>
            <a:r>
              <a:rPr lang="ko-KR" altLang="en-US" sz="11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Times New Roman" panose="02020603050405020304" pitchFamily="18" charset="0"/>
                <a:ea typeface="에스코어 드림 4 Regular" panose="020B0503030302020204" pitchFamily="34" charset="-127"/>
                <a:cs typeface="Times New Roman" panose="02020603050405020304" pitchFamily="18" charset="0"/>
              </a:rPr>
              <a:t>해서 저장하자</a:t>
            </a:r>
            <a:endParaRPr lang="en-US" altLang="ko-KR" sz="1100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/>
              </a:solidFill>
              <a:latin typeface="Times New Roman" panose="02020603050405020304" pitchFamily="18" charset="0"/>
              <a:ea typeface="에스코어 드림 4 Regular" panose="020B0503030302020204" pitchFamily="34" charset="-127"/>
              <a:cs typeface="Times New Roman" panose="02020603050405020304" pitchFamily="18" charset="0"/>
            </a:endParaRPr>
          </a:p>
          <a:p>
            <a:pPr lvl="1"/>
            <a:r>
              <a:rPr lang="en-US" altLang="ko-KR" sz="11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Times New Roman" panose="02020603050405020304" pitchFamily="18" charset="0"/>
                <a:ea typeface="에스코어 드림 4 Regular" panose="020B0503030302020204" pitchFamily="34" charset="-127"/>
                <a:cs typeface="Times New Roman" panose="02020603050405020304" pitchFamily="18" charset="0"/>
              </a:rPr>
              <a:t>Fourier Recurrent Units </a:t>
            </a:r>
            <a:r>
              <a:rPr lang="en-US" altLang="ko-KR" sz="11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0070C0"/>
                </a:solidFill>
                <a:latin typeface="Times New Roman" panose="02020603050405020304" pitchFamily="18" charset="0"/>
                <a:ea typeface="에스코어 드림 4 Regular" panose="020B0503030302020204" pitchFamily="34" charset="-127"/>
                <a:cs typeface="Times New Roman" panose="02020603050405020304" pitchFamily="18" charset="0"/>
              </a:rPr>
              <a:t>(2018, ICML, Zhang et al.) </a:t>
            </a:r>
            <a:r>
              <a:rPr lang="en-US" altLang="ko-KR" sz="11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Times New Roman" panose="02020603050405020304" pitchFamily="18" charset="0"/>
                <a:ea typeface="에스코어 드림 4 Regular" panose="020B0503030302020204" pitchFamily="34" charset="-127"/>
                <a:cs typeface="Times New Roman" panose="02020603050405020304" pitchFamily="18" charset="0"/>
              </a:rPr>
              <a:t>: </a:t>
            </a:r>
            <a:r>
              <a:rPr lang="ko-KR" altLang="en-US" sz="11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Times New Roman" panose="02020603050405020304" pitchFamily="18" charset="0"/>
                <a:ea typeface="에스코어 드림 4 Regular" panose="020B0503030302020204" pitchFamily="34" charset="-127"/>
                <a:cs typeface="Times New Roman" panose="02020603050405020304" pitchFamily="18" charset="0"/>
              </a:rPr>
              <a:t>저장되는 메모리 값들과 </a:t>
            </a:r>
            <a:r>
              <a:rPr lang="en-US" altLang="ko-KR" sz="11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Times New Roman" panose="02020603050405020304" pitchFamily="18" charset="0"/>
                <a:ea typeface="에스코어 드림 4 Regular" panose="020B0503030302020204" pitchFamily="34" charset="-127"/>
                <a:cs typeface="Times New Roman" panose="02020603050405020304" pitchFamily="18" charset="0"/>
              </a:rPr>
              <a:t>x</a:t>
            </a:r>
            <a:r>
              <a:rPr lang="ko-KR" altLang="en-US" sz="11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Times New Roman" panose="02020603050405020304" pitchFamily="18" charset="0"/>
                <a:ea typeface="에스코어 드림 4 Regular" panose="020B0503030302020204" pitchFamily="34" charset="-127"/>
                <a:cs typeface="Times New Roman" panose="02020603050405020304" pitchFamily="18" charset="0"/>
              </a:rPr>
              <a:t>를 결합해 </a:t>
            </a:r>
            <a:r>
              <a:rPr lang="en-US" altLang="ko-KR" sz="11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Times New Roman" panose="02020603050405020304" pitchFamily="18" charset="0"/>
                <a:ea typeface="에스코어 드림 4 Regular" panose="020B0503030302020204" pitchFamily="34" charset="-127"/>
                <a:cs typeface="Times New Roman" panose="02020603050405020304" pitchFamily="18" charset="0"/>
              </a:rPr>
              <a:t>Fourier</a:t>
            </a:r>
            <a:r>
              <a:rPr lang="ko-KR" altLang="en-US" sz="11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Times New Roman" panose="02020603050405020304" pitchFamily="18" charset="0"/>
                <a:ea typeface="에스코어 드림 4 Regular" panose="020B0503030302020204" pitchFamily="34" charset="-127"/>
                <a:cs typeface="Times New Roman" panose="02020603050405020304" pitchFamily="18" charset="0"/>
              </a:rPr>
              <a:t>로 </a:t>
            </a:r>
            <a:r>
              <a:rPr lang="en-US" altLang="ko-KR" sz="11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Times New Roman" panose="02020603050405020304" pitchFamily="18" charset="0"/>
                <a:ea typeface="에스코어 드림 4 Regular" panose="020B0503030302020204" pitchFamily="34" charset="-127"/>
                <a:cs typeface="Times New Roman" panose="02020603050405020304" pitchFamily="18" charset="0"/>
              </a:rPr>
              <a:t>Decomposition </a:t>
            </a:r>
            <a:r>
              <a:rPr lang="ko-KR" altLang="en-US" sz="11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Times New Roman" panose="02020603050405020304" pitchFamily="18" charset="0"/>
                <a:ea typeface="에스코어 드림 4 Regular" panose="020B0503030302020204" pitchFamily="34" charset="-127"/>
                <a:cs typeface="Times New Roman" panose="02020603050405020304" pitchFamily="18" charset="0"/>
              </a:rPr>
              <a:t>해서 저장하자</a:t>
            </a:r>
            <a:endParaRPr lang="en-US" altLang="ko-KR" sz="1100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/>
              </a:solidFill>
              <a:latin typeface="Times New Roman" panose="02020603050405020304" pitchFamily="18" charset="0"/>
              <a:ea typeface="에스코어 드림 4 Regular" panose="020B0503030302020204" pitchFamily="34" charset="-127"/>
              <a:cs typeface="Times New Roman" panose="02020603050405020304" pitchFamily="18" charset="0"/>
            </a:endParaRPr>
          </a:p>
          <a:p>
            <a:pPr lvl="1"/>
            <a:r>
              <a:rPr lang="en-US" altLang="ko-KR" sz="11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Times New Roman" panose="02020603050405020304" pitchFamily="18" charset="0"/>
                <a:ea typeface="에스코어 드림 4 Regular" panose="020B0503030302020204" pitchFamily="34" charset="-127"/>
                <a:cs typeface="Times New Roman" panose="02020603050405020304" pitchFamily="18" charset="0"/>
              </a:rPr>
              <a:t>Correlation Recurrent Units </a:t>
            </a:r>
            <a:r>
              <a:rPr lang="en-US" altLang="ko-KR" sz="11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0070C0"/>
                </a:solidFill>
                <a:latin typeface="Times New Roman" panose="02020603050405020304" pitchFamily="18" charset="0"/>
                <a:ea typeface="에스코어 드림 4 Regular" panose="020B0503030302020204" pitchFamily="34" charset="-127"/>
                <a:cs typeface="Times New Roman" panose="02020603050405020304" pitchFamily="18" charset="0"/>
              </a:rPr>
              <a:t>(2022, TPAMI, Sim et al.) </a:t>
            </a:r>
            <a:r>
              <a:rPr lang="en-US" altLang="ko-KR" sz="11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Times New Roman" panose="02020603050405020304" pitchFamily="18" charset="0"/>
                <a:ea typeface="에스코어 드림 4 Regular" panose="020B0503030302020204" pitchFamily="34" charset="-127"/>
                <a:cs typeface="Times New Roman" panose="02020603050405020304" pitchFamily="18" charset="0"/>
              </a:rPr>
              <a:t>: STL </a:t>
            </a:r>
            <a:r>
              <a:rPr lang="ko-KR" altLang="en-US" sz="11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Times New Roman" panose="02020603050405020304" pitchFamily="18" charset="0"/>
                <a:ea typeface="에스코어 드림 4 Regular" panose="020B0503030302020204" pitchFamily="34" charset="-127"/>
                <a:cs typeface="Times New Roman" panose="02020603050405020304" pitchFamily="18" charset="0"/>
              </a:rPr>
              <a:t>기반으로 추세를 </a:t>
            </a:r>
            <a:r>
              <a:rPr lang="en-US" altLang="ko-KR" sz="11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Times New Roman" panose="02020603050405020304" pitchFamily="18" charset="0"/>
                <a:ea typeface="에스코어 드림 4 Regular" panose="020B0503030302020204" pitchFamily="34" charset="-127"/>
                <a:cs typeface="Times New Roman" panose="02020603050405020304" pitchFamily="18" charset="0"/>
              </a:rPr>
              <a:t>Decomposition </a:t>
            </a:r>
            <a:r>
              <a:rPr lang="ko-KR" altLang="en-US" sz="11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Times New Roman" panose="02020603050405020304" pitchFamily="18" charset="0"/>
                <a:ea typeface="에스코어 드림 4 Regular" panose="020B0503030302020204" pitchFamily="34" charset="-127"/>
                <a:cs typeface="Times New Roman" panose="02020603050405020304" pitchFamily="18" charset="0"/>
              </a:rPr>
              <a:t>하자</a:t>
            </a:r>
            <a:endParaRPr lang="en-US" altLang="ko-KR" sz="1100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/>
              </a:solidFill>
              <a:latin typeface="Times New Roman" panose="02020603050405020304" pitchFamily="18" charset="0"/>
              <a:ea typeface="에스코어 드림 4 Regular" panose="020B0503030302020204" pitchFamily="34" charset="-127"/>
              <a:cs typeface="Times New Roman" panose="02020603050405020304" pitchFamily="18" charset="0"/>
            </a:endParaRPr>
          </a:p>
          <a:p>
            <a:pPr lvl="1"/>
            <a:endParaRPr lang="en-US" altLang="ko-KR" sz="1250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/>
              </a:solidFill>
              <a:latin typeface="Times New Roman" panose="02020603050405020304" pitchFamily="18" charset="0"/>
              <a:ea typeface="에스코어 드림 4 Regular" panose="020B05030303020202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708C834-FDAF-6C18-FB36-B0E6E454D0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2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C7305E14-0E06-69A7-1887-CF373B4B8F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3028950"/>
            <a:ext cx="2133600" cy="116459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F820637F-E147-E17E-A04A-341CAA4758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09800" y="3098283"/>
            <a:ext cx="2274949" cy="1025923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4645D95B-E8B2-ED70-EA7F-DD8280B47F1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2760" y="2876550"/>
            <a:ext cx="2084479" cy="15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34920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4A47C5-F15D-0539-054A-0D9323C787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07F6AB-5804-96DF-1C02-98B70DB45D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" y="344671"/>
            <a:ext cx="6286500" cy="470855"/>
          </a:xfrm>
        </p:spPr>
        <p:txBody>
          <a:bodyPr/>
          <a:lstStyle/>
          <a:p>
            <a:r>
              <a:rPr lang="en-US" altLang="ko-KR" dirty="0" err="1"/>
              <a:t>HiPPO</a:t>
            </a:r>
            <a:r>
              <a:rPr lang="en-US" altLang="ko-KR" dirty="0"/>
              <a:t>: Recurrent Memory with Optimal Polynomial Projection</a:t>
            </a:r>
            <a:endParaRPr lang="ko-KR" altLang="en-US" sz="1400" dirty="0">
              <a:ln>
                <a:noFill/>
              </a:ln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내용 개체 틀 2">
                <a:extLst>
                  <a:ext uri="{FF2B5EF4-FFF2-40B4-BE49-F238E27FC236}">
                    <a16:creationId xmlns:a16="http://schemas.microsoft.com/office/drawing/2014/main" id="{25CFCB9F-8C1B-E597-37A4-1727E9E53F9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52400" y="951551"/>
                <a:ext cx="6477000" cy="3753799"/>
              </a:xfrm>
            </p:spPr>
            <p:txBody>
              <a:bodyPr vert="horz" lIns="91440" tIns="45720" rIns="91440" bIns="45720" rtlCol="0">
                <a:no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altLang="ko-KR" b="1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에스코어 드림 4 Regular" panose="020B0503030302020204" pitchFamily="34" charset="-127"/>
                    <a:cs typeface="Times New Roman" panose="02020603050405020304" pitchFamily="18" charset="0"/>
                  </a:rPr>
                  <a:t>Orthogonal Polynomial Basis</a:t>
                </a:r>
                <a:r>
                  <a:rPr lang="ko-KR" altLang="en-US" b="1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에스코어 드림 4 Regular" panose="020B0503030302020204" pitchFamily="34" charset="-127"/>
                    <a:cs typeface="Times New Roman" panose="02020603050405020304" pitchFamily="18" charset="0"/>
                  </a:rPr>
                  <a:t>위에서</a:t>
                </a:r>
                <a:r>
                  <a:rPr lang="en-US" altLang="ko-KR" b="1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에스코어 드림 4 Regular" panose="020B0503030302020204" pitchFamily="34" charset="-127"/>
                    <a:cs typeface="Times New Roman" panose="02020603050405020304" pitchFamily="18" charset="0"/>
                  </a:rPr>
                  <a:t> </a:t>
                </a:r>
                <a:r>
                  <a:rPr lang="en-US" altLang="ko-KR" b="1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rgbClr val="FF0000"/>
                    </a:solidFill>
                    <a:latin typeface="Times New Roman" panose="02020603050405020304" pitchFamily="18" charset="0"/>
                    <a:ea typeface="에스코어 드림 4 Regular" panose="020B0503030302020204" pitchFamily="34" charset="-127"/>
                    <a:cs typeface="Times New Roman" panose="02020603050405020304" pitchFamily="18" charset="0"/>
                  </a:rPr>
                  <a:t>Online Approximation </a:t>
                </a:r>
                <a:r>
                  <a:rPr lang="ko-KR" altLang="en-US" b="1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에스코어 드림 4 Regular" panose="020B0503030302020204" pitchFamily="34" charset="-127"/>
                    <a:cs typeface="Times New Roman" panose="02020603050405020304" pitchFamily="18" charset="0"/>
                  </a:rPr>
                  <a:t>을 하자</a:t>
                </a:r>
                <a:r>
                  <a:rPr lang="en-US" altLang="ko-KR" b="1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에스코어 드림 4 Regular" panose="020B0503030302020204" pitchFamily="34" charset="-127"/>
                    <a:cs typeface="Times New Roman" panose="02020603050405020304" pitchFamily="18" charset="0"/>
                  </a:rPr>
                  <a:t>!</a:t>
                </a:r>
              </a:p>
              <a:p>
                <a:pPr lvl="1"/>
                <a:r>
                  <a:rPr lang="ko-KR" altLang="en-US" b="1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에스코어 드림 4 Regular" panose="020B0503030302020204" pitchFamily="34" charset="-127"/>
                    <a:cs typeface="Times New Roman" panose="02020603050405020304" pitchFamily="18" charset="0"/>
                  </a:rPr>
                  <a:t>내가 관측한 함수들의 값들</a:t>
                </a:r>
                <a:r>
                  <a:rPr lang="en-US" altLang="ko-KR" b="1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에스코어 드림 4 Regular" panose="020B0503030302020204" pitchFamily="34" charset="-127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1">
                            <a:ln>
                              <a:solidFill>
                                <a:schemeClr val="tx1">
                                  <a:alpha val="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에스코어 드림 4 Regular" panose="020B0503030302020204" pitchFamily="34" charset="-127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b="1">
                            <a:ln>
                              <a:solidFill>
                                <a:schemeClr val="tx1">
                                  <a:alpha val="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에스코어 드림 4 Regular" panose="020B0503030302020204" pitchFamily="34" charset="-127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ko-KR" b="1">
                            <a:ln>
                              <a:solidFill>
                                <a:schemeClr val="tx1">
                                  <a:alpha val="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에스코어 드림 4 Regular" panose="020B0503030302020204" pitchFamily="34" charset="-127"/>
                            <a:cs typeface="Times New Roman" panose="02020603050405020304" pitchFamily="18" charset="0"/>
                          </a:rPr>
                          <m:t>≤</m:t>
                        </m:r>
                        <m:r>
                          <a:rPr lang="en-US" altLang="ko-KR" b="1">
                            <a:ln>
                              <a:solidFill>
                                <a:schemeClr val="tx1">
                                  <a:alpha val="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에스코어 드림 4 Regular" panose="020B0503030302020204" pitchFamily="34" charset="-127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ko-KR" b="1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에스코어 드림 4 Regular" panose="020B0503030302020204" pitchFamily="34" charset="-127"/>
                    <a:cs typeface="Times New Roman" panose="02020603050405020304" pitchFamily="18" charset="0"/>
                  </a:rPr>
                  <a:t>)</a:t>
                </a:r>
                <a:r>
                  <a:rPr lang="ko-KR" altLang="en-US" b="1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에스코어 드림 4 Regular" panose="020B0503030302020204" pitchFamily="34" charset="-127"/>
                    <a:cs typeface="Times New Roman" panose="02020603050405020304" pitchFamily="18" charset="0"/>
                  </a:rPr>
                  <a:t> 을 데이터가 들어올 때마다 </a:t>
                </a:r>
                <a:r>
                  <a:rPr lang="en-US" altLang="ko-KR" b="1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에스코어 드림 4 Regular" panose="020B0503030302020204" pitchFamily="34" charset="-127"/>
                    <a:cs typeface="Times New Roman" panose="02020603050405020304" pitchFamily="18" charset="0"/>
                  </a:rPr>
                  <a:t>Projection</a:t>
                </a:r>
                <a:r>
                  <a:rPr lang="ko-KR" altLang="en-US" b="1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에스코어 드림 4 Regular" panose="020B0503030302020204" pitchFamily="34" charset="-127"/>
                    <a:cs typeface="Times New Roman" panose="02020603050405020304" pitchFamily="18" charset="0"/>
                  </a:rPr>
                  <a:t>을 하여</a:t>
                </a:r>
                <a:r>
                  <a:rPr lang="en-US" altLang="ko-KR" b="1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에스코어 드림 4 Regular" panose="020B0503030302020204" pitchFamily="34" charset="-127"/>
                    <a:cs typeface="Times New Roman" panose="02020603050405020304" pitchFamily="18" charset="0"/>
                  </a:rPr>
                  <a:t>,</a:t>
                </a:r>
                <a:r>
                  <a:rPr lang="ko-KR" altLang="en-US" b="1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에스코어 드림 4 Regular" panose="020B0503030302020204" pitchFamily="34" charset="-127"/>
                    <a:cs typeface="Times New Roman" panose="02020603050405020304" pitchFamily="18" charset="0"/>
                  </a:rPr>
                  <a:t> 근사화</a:t>
                </a:r>
                <a:r>
                  <a:rPr lang="en-US" altLang="ko-KR" b="1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에스코어 드림 4 Regular" panose="020B0503030302020204" pitchFamily="34" charset="-127"/>
                    <a:cs typeface="Times New Roman" panose="02020603050405020304" pitchFamily="18" charset="0"/>
                  </a:rPr>
                  <a:t>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b="1">
                            <a:ln>
                              <a:solidFill>
                                <a:schemeClr val="tx1">
                                  <a:alpha val="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에스코어 드림 4 Regular" panose="020B0503030302020204" pitchFamily="34" charset="-127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ko-KR" b="1">
                            <a:ln>
                              <a:solidFill>
                                <a:schemeClr val="tx1">
                                  <a:alpha val="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에스코어 드림 4 Regular" panose="020B0503030302020204" pitchFamily="34" charset="-127"/>
                            <a:cs typeface="Times New Roman" panose="02020603050405020304" pitchFamily="18" charset="0"/>
                          </a:rPr>
                          <m:t>𝑔</m:t>
                        </m:r>
                      </m:e>
                      <m:sup>
                        <m:d>
                          <m:dPr>
                            <m:ctrlPr>
                              <a:rPr lang="en-US" altLang="ko-KR" b="1">
                                <a:ln>
                                  <a:solidFill>
                                    <a:schemeClr val="tx1">
                                      <a:alpha val="0"/>
                                    </a:schemeClr>
                                  </a:solidFill>
                                </a:ln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ea typeface="에스코어 드림 4 Regular" panose="020B0503030302020204" pitchFamily="34" charset="-127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b="1">
                                <a:ln>
                                  <a:solidFill>
                                    <a:schemeClr val="tx1">
                                      <a:alpha val="0"/>
                                    </a:schemeClr>
                                  </a:solidFill>
                                </a:ln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ea typeface="에스코어 드림 4 Regular" panose="020B0503030302020204" pitchFamily="34" charset="-127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e>
                        </m:d>
                      </m:sup>
                    </m:sSup>
                    <m:r>
                      <a:rPr lang="en-US" altLang="ko-KR" b="1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에스코어 드림 4 Regular" panose="020B0503030302020204" pitchFamily="34" charset="-127"/>
                        <a:cs typeface="Times New Roman" panose="02020603050405020304" pitchFamily="18" charset="0"/>
                      </a:rPr>
                      <m:t>≔ </m:t>
                    </m:r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altLang="ko-KR" b="1">
                            <a:ln>
                              <a:solidFill>
                                <a:schemeClr val="tx1">
                                  <a:alpha val="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에스코어 드림 4 Regular" panose="020B0503030302020204" pitchFamily="34" charset="-127"/>
                            <a:cs typeface="Times New Roman" panose="02020603050405020304" pitchFamily="18" charset="0"/>
                          </a:rPr>
                        </m:ctrlPr>
                      </m:naryPr>
                      <m:sub/>
                      <m:sup/>
                      <m:e>
                        <m:sSub>
                          <m:sSubPr>
                            <m:ctrlPr>
                              <a:rPr lang="en-US" altLang="ko-KR" b="1">
                                <a:ln>
                                  <a:solidFill>
                                    <a:schemeClr val="tx1">
                                      <a:alpha val="0"/>
                                    </a:schemeClr>
                                  </a:solidFill>
                                </a:ln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ea typeface="에스코어 드림 4 Regular" panose="020B0503030302020204" pitchFamily="34" charset="-127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>
                                <a:ln>
                                  <a:solidFill>
                                    <a:schemeClr val="tx1">
                                      <a:alpha val="0"/>
                                    </a:schemeClr>
                                  </a:solidFill>
                                </a:ln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ea typeface="에스코어 드림 4 Regular" panose="020B0503030302020204" pitchFamily="34" charset="-127"/>
                                <a:cs typeface="Times New Roman" panose="020206030504050203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altLang="ko-KR" b="1">
                                <a:ln>
                                  <a:solidFill>
                                    <a:schemeClr val="tx1">
                                      <a:alpha val="0"/>
                                    </a:schemeClr>
                                  </a:solidFill>
                                </a:ln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ea typeface="에스코어 드림 4 Regular" panose="020B0503030302020204" pitchFamily="34" charset="-127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ko-KR" altLang="en-US" b="1">
                                <a:ln>
                                  <a:solidFill>
                                    <a:schemeClr val="tx1">
                                      <a:alpha val="0"/>
                                    </a:schemeClr>
                                  </a:solidFill>
                                </a:ln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ea typeface="에스코어 드림 4 Regular" panose="020B0503030302020204" pitchFamily="34" charset="-127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b="1">
                                <a:ln>
                                  <a:solidFill>
                                    <a:schemeClr val="tx1">
                                      <a:alpha val="0"/>
                                    </a:schemeClr>
                                  </a:solidFill>
                                </a:ln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ea typeface="에스코어 드림 4 Regular" panose="020B0503030302020204" pitchFamily="34" charset="-127"/>
                                <a:cs typeface="Times New Roman" panose="02020603050405020304" pitchFamily="18" charset="0"/>
                              </a:rPr>
                              <m:t>𝜙</m:t>
                            </m:r>
                          </m:e>
                          <m:sub>
                            <m:r>
                              <a:rPr lang="en-US" altLang="ko-KR" b="1">
                                <a:ln>
                                  <a:solidFill>
                                    <a:schemeClr val="tx1">
                                      <a:alpha val="0"/>
                                    </a:schemeClr>
                                  </a:solidFill>
                                </a:ln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ea typeface="에스코어 드림 4 Regular" panose="020B0503030302020204" pitchFamily="34" charset="-127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US" altLang="ko-KR" b="1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에스코어 드림 4 Regular" panose="020B0503030302020204" pitchFamily="34" charset="-127"/>
                    <a:cs typeface="Times New Roman" panose="02020603050405020304" pitchFamily="18" charset="0"/>
                  </a:rPr>
                  <a:t>)</a:t>
                </a:r>
                <a:r>
                  <a:rPr lang="ko-KR" altLang="en-US" b="1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에스코어 드림 4 Regular" panose="020B0503030302020204" pitchFamily="34" charset="-127"/>
                    <a:cs typeface="Times New Roman" panose="02020603050405020304" pitchFamily="18" charset="0"/>
                  </a:rPr>
                  <a:t> 한 후</a:t>
                </a:r>
                <a:r>
                  <a:rPr lang="en-US" altLang="ko-KR" b="1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에스코어 드림 4 Regular" panose="020B0503030302020204" pitchFamily="34" charset="-127"/>
                    <a:cs typeface="Times New Roman" panose="02020603050405020304" pitchFamily="18" charset="0"/>
                  </a:rPr>
                  <a:t>, , </a:t>
                </a:r>
                <a:r>
                  <a:rPr lang="ko-KR" altLang="en-US" b="1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에스코어 드림 4 Regular" panose="020B0503030302020204" pitchFamily="34" charset="-127"/>
                    <a:cs typeface="Times New Roman" panose="02020603050405020304" pitchFamily="18" charset="0"/>
                  </a:rPr>
                  <a:t>계수</a:t>
                </a:r>
                <a:r>
                  <a:rPr lang="en-US" altLang="ko-KR" b="1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에스코어 드림 4 Regular" panose="020B0503030302020204" pitchFamily="34" charset="-127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ko-KR" b="1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에스코어 드림 4 Regular" panose="020B0503030302020204" pitchFamily="34" charset="-127"/>
                        <a:cs typeface="Times New Roman" panose="02020603050405020304" pitchFamily="18" charset="0"/>
                      </a:rPr>
                      <m:t>𝑐</m:t>
                    </m:r>
                    <m:r>
                      <a:rPr lang="en-US" altLang="ko-KR" b="1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에스코어 드림 4 Regular" panose="020B0503030302020204" pitchFamily="34" charset="-127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ko-KR" b="1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에스코어 드림 4 Regular" panose="020B0503030302020204" pitchFamily="34" charset="-127"/>
                        <a:cs typeface="Times New Roman" panose="02020603050405020304" pitchFamily="18" charset="0"/>
                      </a:rPr>
                      <m:t>𝑡</m:t>
                    </m:r>
                    <m:r>
                      <a:rPr lang="en-US" altLang="ko-KR" b="1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에스코어 드림 4 Regular" panose="020B0503030302020204" pitchFamily="34" charset="-127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altLang="ko-KR" b="1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에스코어 드림 4 Regular" panose="020B0503030302020204" pitchFamily="34" charset="-127"/>
                    <a:cs typeface="Times New Roman" panose="02020603050405020304" pitchFamily="18" charset="0"/>
                  </a:rPr>
                  <a:t>)</a:t>
                </a:r>
                <a:r>
                  <a:rPr lang="ko-KR" altLang="en-US" b="1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에스코어 드림 4 Regular" panose="020B0503030302020204" pitchFamily="34" charset="-127"/>
                    <a:cs typeface="Times New Roman" panose="02020603050405020304" pitchFamily="18" charset="0"/>
                  </a:rPr>
                  <a:t>의 변화를 통해서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1">
                            <a:ln>
                              <a:solidFill>
                                <a:schemeClr val="tx1">
                                  <a:alpha val="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에스코어 드림 4 Regular" panose="020B0503030302020204" pitchFamily="34" charset="-127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b="1">
                            <a:ln>
                              <a:solidFill>
                                <a:schemeClr val="tx1">
                                  <a:alpha val="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에스코어 드림 4 Regular" panose="020B0503030302020204" pitchFamily="34" charset="-127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ko-KR" b="1">
                            <a:ln>
                              <a:solidFill>
                                <a:schemeClr val="tx1">
                                  <a:alpha val="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에스코어 드림 4 Regular" panose="020B0503030302020204" pitchFamily="34" charset="-127"/>
                            <a:cs typeface="Times New Roman" panose="02020603050405020304" pitchFamily="18" charset="0"/>
                          </a:rPr>
                          <m:t>≤</m:t>
                        </m:r>
                        <m:r>
                          <a:rPr lang="en-US" altLang="ko-KR" b="1">
                            <a:ln>
                              <a:solidFill>
                                <a:schemeClr val="tx1">
                                  <a:alpha val="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에스코어 드림 4 Regular" panose="020B0503030302020204" pitchFamily="34" charset="-127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ko-KR" b="1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에스코어 드림 4 Regular" panose="020B0503030302020204" pitchFamily="34" charset="-127"/>
                    <a:cs typeface="Times New Roman" panose="02020603050405020304" pitchFamily="18" charset="0"/>
                  </a:rPr>
                  <a:t> </a:t>
                </a:r>
                <a:r>
                  <a:rPr lang="ko-KR" altLang="en-US" b="1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에스코어 드림 4 Regular" panose="020B0503030302020204" pitchFamily="34" charset="-127"/>
                    <a:cs typeface="Times New Roman" panose="02020603050405020304" pitchFamily="18" charset="0"/>
                  </a:rPr>
                  <a:t>변화를 추적하자</a:t>
                </a:r>
                <a:r>
                  <a:rPr lang="en-US" altLang="ko-KR" b="1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에스코어 드림 4 Regular" panose="020B0503030302020204" pitchFamily="34" charset="-127"/>
                    <a:cs typeface="Times New Roman" panose="02020603050405020304" pitchFamily="18" charset="0"/>
                  </a:rPr>
                  <a:t>. </a:t>
                </a:r>
              </a:p>
              <a:p>
                <a:pPr lvl="1"/>
                <a:r>
                  <a:rPr lang="ko-KR" altLang="en-US" b="1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에스코어 드림 4 Regular" panose="020B0503030302020204" pitchFamily="34" charset="-127"/>
                    <a:cs typeface="Times New Roman" panose="02020603050405020304" pitchFamily="18" charset="0"/>
                  </a:rPr>
                  <a:t>이 문제를 </a:t>
                </a:r>
                <a14:m>
                  <m:oMath xmlns:m="http://schemas.openxmlformats.org/officeDocument/2006/math">
                    <m:r>
                      <a:rPr lang="en-US" altLang="ko-KR" b="1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에스코어 드림 4 Regular" panose="020B0503030302020204" pitchFamily="34" charset="-127"/>
                        <a:cs typeface="Times New Roman" panose="02020603050405020304" pitchFamily="18" charset="0"/>
                      </a:rPr>
                      <m:t>𝑐</m:t>
                    </m:r>
                    <m:r>
                      <a:rPr lang="en-US" altLang="ko-KR" b="1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에스코어 드림 4 Regular" panose="020B0503030302020204" pitchFamily="34" charset="-127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ko-KR" b="1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에스코어 드림 4 Regular" panose="020B0503030302020204" pitchFamily="34" charset="-127"/>
                        <a:cs typeface="Times New Roman" panose="02020603050405020304" pitchFamily="18" charset="0"/>
                      </a:rPr>
                      <m:t>𝑡</m:t>
                    </m:r>
                    <m:r>
                      <a:rPr lang="en-US" altLang="ko-KR" b="1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에스코어 드림 4 Regular" panose="020B0503030302020204" pitchFamily="34" charset="-127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ko-KR" altLang="en-US" b="1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에스코어 드림 4 Regular" panose="020B0503030302020204" pitchFamily="34" charset="-127"/>
                    <a:cs typeface="Times New Roman" panose="02020603050405020304" pitchFamily="18" charset="0"/>
                  </a:rPr>
                  <a:t>가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b="1">
                            <a:ln>
                              <a:solidFill>
                                <a:schemeClr val="tx1">
                                  <a:alpha val="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에스코어 드림 4 Regular" panose="020B0503030302020204" pitchFamily="34" charset="-127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ko-KR" b="1">
                            <a:ln>
                              <a:solidFill>
                                <a:schemeClr val="tx1">
                                  <a:alpha val="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에스코어 드림 4 Regular" panose="020B0503030302020204" pitchFamily="34" charset="-127"/>
                            <a:cs typeface="Times New Roman" panose="02020603050405020304" pitchFamily="18" charset="0"/>
                          </a:rPr>
                          <m:t>𝑑</m:t>
                        </m:r>
                      </m:num>
                      <m:den>
                        <m:r>
                          <a:rPr lang="en-US" altLang="ko-KR" b="1">
                            <a:ln>
                              <a:solidFill>
                                <a:schemeClr val="tx1">
                                  <a:alpha val="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에스코어 드림 4 Regular" panose="020B0503030302020204" pitchFamily="34" charset="-127"/>
                            <a:cs typeface="Times New Roman" panose="02020603050405020304" pitchFamily="18" charset="0"/>
                          </a:rPr>
                          <m:t>𝑑𝑡</m:t>
                        </m:r>
                      </m:den>
                    </m:f>
                    <m:r>
                      <a:rPr lang="en-US" altLang="ko-KR" b="1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에스코어 드림 4 Regular" panose="020B0503030302020204" pitchFamily="34" charset="-127"/>
                        <a:cs typeface="Times New Roman" panose="02020603050405020304" pitchFamily="18" charset="0"/>
                      </a:rPr>
                      <m:t>𝑐</m:t>
                    </m:r>
                    <m:d>
                      <m:dPr>
                        <m:ctrlPr>
                          <a:rPr lang="en-US" altLang="ko-KR" b="1">
                            <a:ln>
                              <a:solidFill>
                                <a:schemeClr val="tx1">
                                  <a:alpha val="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에스코어 드림 4 Regular" panose="020B0503030302020204" pitchFamily="34" charset="-127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ko-KR" b="1">
                            <a:ln>
                              <a:solidFill>
                                <a:schemeClr val="tx1">
                                  <a:alpha val="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에스코어 드림 4 Regular" panose="020B0503030302020204" pitchFamily="34" charset="-127"/>
                            <a:cs typeface="Times New Roman" panose="02020603050405020304" pitchFamily="18" charset="0"/>
                          </a:rPr>
                          <m:t>𝑡</m:t>
                        </m:r>
                      </m:e>
                    </m:d>
                    <m:r>
                      <a:rPr lang="en-US" altLang="ko-KR" b="1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에스코어 드림 4 Regular" panose="020B0503030302020204" pitchFamily="34" charset="-127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ko-KR" b="1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에스코어 드림 4 Regular" panose="020B0503030302020204" pitchFamily="34" charset="-127"/>
                        <a:cs typeface="Times New Roman" panose="02020603050405020304" pitchFamily="18" charset="0"/>
                      </a:rPr>
                      <m:t>𝐴</m:t>
                    </m:r>
                    <m:d>
                      <m:dPr>
                        <m:ctrlPr>
                          <a:rPr lang="en-US" altLang="ko-KR" b="1">
                            <a:ln>
                              <a:solidFill>
                                <a:schemeClr val="tx1">
                                  <a:alpha val="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에스코어 드림 4 Regular" panose="020B0503030302020204" pitchFamily="34" charset="-127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ko-KR" b="1">
                            <a:ln>
                              <a:solidFill>
                                <a:schemeClr val="tx1">
                                  <a:alpha val="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에스코어 드림 4 Regular" panose="020B0503030302020204" pitchFamily="34" charset="-127"/>
                            <a:cs typeface="Times New Roman" panose="02020603050405020304" pitchFamily="18" charset="0"/>
                          </a:rPr>
                          <m:t>𝑡</m:t>
                        </m:r>
                      </m:e>
                    </m:d>
                    <m:r>
                      <a:rPr lang="en-US" altLang="ko-KR" b="1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에스코어 드림 4 Regular" panose="020B0503030302020204" pitchFamily="34" charset="-127"/>
                        <a:cs typeface="Times New Roman" panose="02020603050405020304" pitchFamily="18" charset="0"/>
                      </a:rPr>
                      <m:t>𝑐</m:t>
                    </m:r>
                    <m:d>
                      <m:dPr>
                        <m:ctrlPr>
                          <a:rPr lang="en-US" altLang="ko-KR" b="1">
                            <a:ln>
                              <a:solidFill>
                                <a:schemeClr val="tx1">
                                  <a:alpha val="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에스코어 드림 4 Regular" panose="020B0503030302020204" pitchFamily="34" charset="-127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ko-KR" b="1">
                            <a:ln>
                              <a:solidFill>
                                <a:schemeClr val="tx1">
                                  <a:alpha val="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에스코어 드림 4 Regular" panose="020B0503030302020204" pitchFamily="34" charset="-127"/>
                            <a:cs typeface="Times New Roman" panose="02020603050405020304" pitchFamily="18" charset="0"/>
                          </a:rPr>
                          <m:t>𝑡</m:t>
                        </m:r>
                      </m:e>
                    </m:d>
                    <m:r>
                      <a:rPr lang="en-US" altLang="ko-KR" b="1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에스코어 드림 4 Regular" panose="020B0503030302020204" pitchFamily="34" charset="-127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altLang="ko-KR" b="1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에스코어 드림 4 Regular" panose="020B0503030302020204" pitchFamily="34" charset="-127"/>
                        <a:cs typeface="Times New Roman" panose="02020603050405020304" pitchFamily="18" charset="0"/>
                      </a:rPr>
                      <m:t>𝐵</m:t>
                    </m:r>
                    <m:d>
                      <m:dPr>
                        <m:ctrlPr>
                          <a:rPr lang="en-US" altLang="ko-KR" b="1">
                            <a:ln>
                              <a:solidFill>
                                <a:schemeClr val="tx1">
                                  <a:alpha val="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에스코어 드림 4 Regular" panose="020B0503030302020204" pitchFamily="34" charset="-127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ko-KR" b="1">
                            <a:ln>
                              <a:solidFill>
                                <a:schemeClr val="tx1">
                                  <a:alpha val="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에스코어 드림 4 Regular" panose="020B0503030302020204" pitchFamily="34" charset="-127"/>
                            <a:cs typeface="Times New Roman" panose="02020603050405020304" pitchFamily="18" charset="0"/>
                          </a:rPr>
                          <m:t>𝑡</m:t>
                        </m:r>
                      </m:e>
                    </m:d>
                    <m:r>
                      <a:rPr lang="en-US" altLang="ko-KR" b="1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에스코어 드림 4 Regular" panose="020B0503030302020204" pitchFamily="34" charset="-127"/>
                        <a:cs typeface="Times New Roman" panose="02020603050405020304" pitchFamily="18" charset="0"/>
                      </a:rPr>
                      <m:t>𝑓</m:t>
                    </m:r>
                    <m:r>
                      <a:rPr lang="en-US" altLang="ko-KR" b="1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에스코어 드림 4 Regular" panose="020B0503030302020204" pitchFamily="34" charset="-127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ko-KR" b="1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에스코어 드림 4 Regular" panose="020B0503030302020204" pitchFamily="34" charset="-127"/>
                        <a:cs typeface="Times New Roman" panose="02020603050405020304" pitchFamily="18" charset="0"/>
                      </a:rPr>
                      <m:t>𝑡</m:t>
                    </m:r>
                    <m:r>
                      <a:rPr lang="en-US" altLang="ko-KR" b="1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에스코어 드림 4 Regular" panose="020B0503030302020204" pitchFamily="34" charset="-127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altLang="ko-KR" b="1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에스코어 드림 4 Regular" panose="020B0503030302020204" pitchFamily="34" charset="-127"/>
                    <a:cs typeface="Times New Roman" panose="02020603050405020304" pitchFamily="18" charset="0"/>
                  </a:rPr>
                  <a:t> </a:t>
                </a:r>
                <a:r>
                  <a:rPr lang="ko-KR" altLang="en-US" b="1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에스코어 드림 4 Regular" panose="020B0503030302020204" pitchFamily="34" charset="-127"/>
                    <a:cs typeface="Times New Roman" panose="02020603050405020304" pitchFamily="18" charset="0"/>
                  </a:rPr>
                  <a:t>형태로 변화한다고 정의하면</a:t>
                </a:r>
                <a:r>
                  <a:rPr lang="en-US" altLang="ko-KR" b="1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에스코어 드림 4 Regular" panose="020B0503030302020204" pitchFamily="34" charset="-127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ko-KR" b="1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에스코어 드림 4 Regular" panose="020B0503030302020204" pitchFamily="34" charset="-127"/>
                        <a:cs typeface="Times New Roman" panose="02020603050405020304" pitchFamily="18" charset="0"/>
                      </a:rPr>
                      <m:t>𝑎𝑟𝑔𝑚𝑖𝑛</m:t>
                    </m:r>
                    <m:r>
                      <a:rPr lang="en-US" altLang="ko-KR" b="1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에스코어 드림 4 Regular" panose="020B0503030302020204" pitchFamily="34" charset="-127"/>
                        <a:cs typeface="Times New Roman" panose="020206030504050203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ko-KR" b="1">
                            <a:ln>
                              <a:solidFill>
                                <a:schemeClr val="tx1">
                                  <a:alpha val="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에스코어 드림 4 Regular" panose="020B0503030302020204" pitchFamily="34" charset="-127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b="1">
                            <a:ln>
                              <a:solidFill>
                                <a:schemeClr val="tx1">
                                  <a:alpha val="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에스코어 드림 4 Regular" panose="020B0503030302020204" pitchFamily="34" charset="-127"/>
                            <a:cs typeface="Times New Roman" panose="020206030504050203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altLang="ko-KR" b="1">
                                <a:ln>
                                  <a:solidFill>
                                    <a:schemeClr val="tx1">
                                      <a:alpha val="0"/>
                                    </a:schemeClr>
                                  </a:solidFill>
                                </a:ln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ea typeface="에스코어 드림 4 Regular" panose="020B0503030302020204" pitchFamily="34" charset="-127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>
                                <a:ln>
                                  <a:solidFill>
                                    <a:schemeClr val="tx1">
                                      <a:alpha val="0"/>
                                    </a:schemeClr>
                                  </a:solidFill>
                                </a:ln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ea typeface="에스코어 드림 4 Regular" panose="020B0503030302020204" pitchFamily="34" charset="-127"/>
                                <a:cs typeface="Times New Roman" panose="020206030504050203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altLang="ko-KR" b="1">
                                <a:ln>
                                  <a:solidFill>
                                    <a:schemeClr val="tx1">
                                      <a:alpha val="0"/>
                                    </a:schemeClr>
                                  </a:solidFill>
                                </a:ln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ea typeface="에스코어 드림 4 Regular" panose="020B0503030302020204" pitchFamily="34" charset="-127"/>
                                <a:cs typeface="Times New Roman" panose="02020603050405020304" pitchFamily="18" charset="0"/>
                              </a:rPr>
                              <m:t>≤</m:t>
                            </m:r>
                            <m:r>
                              <a:rPr lang="en-US" altLang="ko-KR" b="1">
                                <a:ln>
                                  <a:solidFill>
                                    <a:schemeClr val="tx1">
                                      <a:alpha val="0"/>
                                    </a:schemeClr>
                                  </a:solidFill>
                                </a:ln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ea typeface="에스코어 드림 4 Regular" panose="020B0503030302020204" pitchFamily="34" charset="-127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altLang="ko-KR" b="1">
                            <a:ln>
                              <a:solidFill>
                                <a:schemeClr val="tx1">
                                  <a:alpha val="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에스코어 드림 4 Regular" panose="020B0503030302020204" pitchFamily="34" charset="-127"/>
                            <a:cs typeface="Times New Roman" panose="020206030504050203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altLang="ko-KR" b="1">
                                <a:ln>
                                  <a:solidFill>
                                    <a:schemeClr val="tx1">
                                      <a:alpha val="0"/>
                                    </a:schemeClr>
                                  </a:solidFill>
                                </a:ln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ea typeface="에스코어 드림 4 Regular" panose="020B0503030302020204" pitchFamily="34" charset="-127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b="1">
                                <a:ln>
                                  <a:solidFill>
                                    <a:schemeClr val="tx1">
                                      <a:alpha val="0"/>
                                    </a:schemeClr>
                                  </a:solidFill>
                                </a:ln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ea typeface="에스코어 드림 4 Regular" panose="020B0503030302020204" pitchFamily="34" charset="-127"/>
                                <a:cs typeface="Times New Roman" panose="02020603050405020304" pitchFamily="18" charset="0"/>
                              </a:rPr>
                              <m:t>𝑔</m:t>
                            </m:r>
                          </m:e>
                          <m:sup>
                            <m:d>
                              <m:dPr>
                                <m:ctrlPr>
                                  <a:rPr lang="en-US" altLang="ko-KR" b="1">
                                    <a:ln>
                                      <a:solidFill>
                                        <a:schemeClr val="tx1">
                                          <a:alpha val="0"/>
                                        </a:schemeClr>
                                      </a:solidFill>
                                    </a:ln>
                                    <a:solidFill>
                                      <a:schemeClr val="tx1"/>
                                    </a:solidFill>
                                    <a:latin typeface="Times New Roman" panose="02020603050405020304" pitchFamily="18" charset="0"/>
                                    <a:ea typeface="에스코어 드림 4 Regular" panose="020B0503030302020204" pitchFamily="34" charset="-127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b="1">
                                    <a:ln>
                                      <a:solidFill>
                                        <a:schemeClr val="tx1">
                                          <a:alpha val="0"/>
                                        </a:schemeClr>
                                      </a:solidFill>
                                    </a:ln>
                                    <a:solidFill>
                                      <a:schemeClr val="tx1"/>
                                    </a:solidFill>
                                    <a:latin typeface="Times New Roman" panose="02020603050405020304" pitchFamily="18" charset="0"/>
                                    <a:ea typeface="에스코어 드림 4 Regular" panose="020B0503030302020204" pitchFamily="34" charset="-127"/>
                                    <a:cs typeface="Times New Roman" panose="02020603050405020304" pitchFamily="18" charset="0"/>
                                  </a:rPr>
                                  <m:t>𝑡</m:t>
                                </m:r>
                              </m:e>
                            </m:d>
                          </m:sup>
                        </m:sSup>
                        <m:r>
                          <a:rPr lang="en-US" altLang="ko-KR" b="1">
                            <a:ln>
                              <a:solidFill>
                                <a:schemeClr val="tx1">
                                  <a:alpha val="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에스코어 드림 4 Regular" panose="020B0503030302020204" pitchFamily="34" charset="-127"/>
                            <a:cs typeface="Times New Roman" panose="02020603050405020304" pitchFamily="18" charset="0"/>
                          </a:rPr>
                          <m:t>|</m:t>
                        </m:r>
                        <m:r>
                          <m:rPr>
                            <m:nor/>
                          </m:rPr>
                          <a:rPr lang="en-US" altLang="ko-KR" b="1" dirty="0">
                            <a:ln>
                              <a:solidFill>
                                <a:schemeClr val="tx1">
                                  <a:alpha val="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에스코어 드림 4 Regular" panose="020B0503030302020204" pitchFamily="34" charset="-127"/>
                            <a:cs typeface="Times New Roman" panose="02020603050405020304" pitchFamily="18" charset="0"/>
                          </a:rPr>
                          <m:t> </m:t>
                        </m:r>
                      </m:e>
                      <m:sub>
                        <m:sSub>
                          <m:sSubPr>
                            <m:ctrlPr>
                              <a:rPr lang="en-US" altLang="ko-KR" b="1">
                                <a:ln>
                                  <a:solidFill>
                                    <a:schemeClr val="tx1">
                                      <a:alpha val="0"/>
                                    </a:schemeClr>
                                  </a:solidFill>
                                </a:ln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ea typeface="에스코어 드림 4 Regular" panose="020B0503030302020204" pitchFamily="34" charset="-127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>
                                <a:ln>
                                  <a:solidFill>
                                    <a:schemeClr val="tx1">
                                      <a:alpha val="0"/>
                                    </a:schemeClr>
                                  </a:solidFill>
                                </a:ln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ea typeface="에스코어 드림 4 Regular" panose="020B0503030302020204" pitchFamily="34" charset="-127"/>
                                <a:cs typeface="Times New Roman" panose="020206030504050203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US" altLang="ko-KR" b="1">
                                <a:ln>
                                  <a:solidFill>
                                    <a:schemeClr val="tx1">
                                      <a:alpha val="0"/>
                                    </a:schemeClr>
                                  </a:solidFill>
                                </a:ln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ea typeface="에스코어 드림 4 Regular" panose="020B0503030302020204" pitchFamily="34" charset="-127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ko-KR" b="1">
                            <a:ln>
                              <a:solidFill>
                                <a:schemeClr val="tx1">
                                  <a:alpha val="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에스코어 드림 4 Regular" panose="020B0503030302020204" pitchFamily="34" charset="-127"/>
                            <a:cs typeface="Times New Roman" panose="020206030504050203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ko-KR" altLang="en-US" b="1">
                                <a:ln>
                                  <a:solidFill>
                                    <a:schemeClr val="tx1">
                                      <a:alpha val="0"/>
                                    </a:schemeClr>
                                  </a:solidFill>
                                </a:ln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ea typeface="에스코어 드림 4 Regular" panose="020B0503030302020204" pitchFamily="34" charset="-127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ko-KR" altLang="en-US" b="1">
                                <a:ln>
                                  <a:solidFill>
                                    <a:schemeClr val="tx1">
                                      <a:alpha val="0"/>
                                    </a:schemeClr>
                                  </a:solidFill>
                                </a:ln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ea typeface="에스코어 드림 4 Regular" panose="020B0503030302020204" pitchFamily="34" charset="-127"/>
                                <a:cs typeface="Times New Roman" panose="02020603050405020304" pitchFamily="18" charset="0"/>
                              </a:rPr>
                              <m:t>𝜇</m:t>
                            </m:r>
                          </m:e>
                          <m:sup>
                            <m:r>
                              <a:rPr lang="en-US" altLang="ko-KR" b="1">
                                <a:ln>
                                  <a:solidFill>
                                    <a:schemeClr val="tx1">
                                      <a:alpha val="0"/>
                                    </a:schemeClr>
                                  </a:solidFill>
                                </a:ln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ea typeface="에스코어 드림 4 Regular" panose="020B0503030302020204" pitchFamily="34" charset="-127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sup>
                        </m:sSup>
                        <m:r>
                          <a:rPr lang="en-US" altLang="ko-KR" b="1">
                            <a:ln>
                              <a:solidFill>
                                <a:schemeClr val="tx1">
                                  <a:alpha val="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에스코어 드림 4 Regular" panose="020B0503030302020204" pitchFamily="34" charset="-127"/>
                            <a:cs typeface="Times New Roman" panose="02020603050405020304" pitchFamily="18" charset="0"/>
                          </a:rPr>
                          <m:t>)</m:t>
                        </m:r>
                      </m:sub>
                    </m:sSub>
                    <m:r>
                      <a:rPr lang="en-US" altLang="ko-KR" b="1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에스코어 드림 4 Regular" panose="020B0503030302020204" pitchFamily="34" charset="-127"/>
                        <a:cs typeface="Times New Roman" panose="02020603050405020304" pitchFamily="18" charset="0"/>
                      </a:rPr>
                      <m:t>,</m:t>
                    </m:r>
                    <m:sSup>
                      <m:sSupPr>
                        <m:ctrlPr>
                          <a:rPr lang="en-US" altLang="ko-KR" b="1">
                            <a:ln>
                              <a:solidFill>
                                <a:schemeClr val="tx1">
                                  <a:alpha val="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에스코어 드림 4 Regular" panose="020B0503030302020204" pitchFamily="34" charset="-127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ko-KR" b="1">
                            <a:ln>
                              <a:solidFill>
                                <a:schemeClr val="tx1">
                                  <a:alpha val="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에스코어 드림 4 Regular" panose="020B0503030302020204" pitchFamily="34" charset="-127"/>
                            <a:cs typeface="Times New Roman" panose="02020603050405020304" pitchFamily="18" charset="0"/>
                          </a:rPr>
                          <m:t>𝑔</m:t>
                        </m:r>
                      </m:e>
                      <m:sup>
                        <m:d>
                          <m:dPr>
                            <m:ctrlPr>
                              <a:rPr lang="en-US" altLang="ko-KR" b="1">
                                <a:ln>
                                  <a:solidFill>
                                    <a:schemeClr val="tx1">
                                      <a:alpha val="0"/>
                                    </a:schemeClr>
                                  </a:solidFill>
                                </a:ln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ea typeface="에스코어 드림 4 Regular" panose="020B0503030302020204" pitchFamily="34" charset="-127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b="1">
                                <a:ln>
                                  <a:solidFill>
                                    <a:schemeClr val="tx1">
                                      <a:alpha val="0"/>
                                    </a:schemeClr>
                                  </a:solidFill>
                                </a:ln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ea typeface="에스코어 드림 4 Regular" panose="020B0503030302020204" pitchFamily="34" charset="-127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e>
                        </m:d>
                      </m:sup>
                    </m:sSup>
                    <m:r>
                      <a:rPr lang="en-US" altLang="ko-KR" b="1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에스코어 드림 4 Regular" panose="020B0503030302020204" pitchFamily="34" charset="-127"/>
                        <a:cs typeface="Times New Roman" panose="02020603050405020304" pitchFamily="18" charset="0"/>
                      </a:rPr>
                      <m:t>∈</m:t>
                    </m:r>
                    <m:r>
                      <a:rPr lang="en-US" altLang="ko-KR" b="1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에스코어 드림 4 Regular" panose="020B0503030302020204" pitchFamily="34" charset="-127"/>
                        <a:cs typeface="Times New Roman" panose="02020603050405020304" pitchFamily="18" charset="0"/>
                      </a:rPr>
                      <m:t>𝐺</m:t>
                    </m:r>
                  </m:oMath>
                </a14:m>
                <a:r>
                  <a:rPr lang="en-US" altLang="ko-KR" b="1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에스코어 드림 4 Regular" panose="020B0503030302020204" pitchFamily="34" charset="-127"/>
                    <a:cs typeface="Times New Roman" panose="02020603050405020304" pitchFamily="18" charset="0"/>
                  </a:rPr>
                  <a:t> </a:t>
                </a:r>
                <a:r>
                  <a:rPr lang="ko-KR" altLang="en-US" b="1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에스코어 드림 4 Regular" panose="020B0503030302020204" pitchFamily="34" charset="-127"/>
                    <a:cs typeface="Times New Roman" panose="02020603050405020304" pitchFamily="18" charset="0"/>
                  </a:rPr>
                  <a:t>를 </a:t>
                </a:r>
                <a:r>
                  <a:rPr lang="en-US" altLang="ko-KR" b="1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에스코어 드림 4 Regular" panose="020B0503030302020204" pitchFamily="34" charset="-127"/>
                    <a:cs typeface="Times New Roman" panose="02020603050405020304" pitchFamily="18" charset="0"/>
                  </a:rPr>
                  <a:t>t</a:t>
                </a:r>
                <a:r>
                  <a:rPr lang="ko-KR" altLang="en-US" b="1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에스코어 드림 4 Regular" panose="020B0503030302020204" pitchFamily="34" charset="-127"/>
                    <a:cs typeface="Times New Roman" panose="02020603050405020304" pitchFamily="18" charset="0"/>
                  </a:rPr>
                  <a:t>에 따라서 푸는 문제로 바뀌고 이 문제는 </a:t>
                </a:r>
                <a:r>
                  <a:rPr lang="en-US" altLang="ko-KR" b="1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에스코어 드림 4 Regular" panose="020B0503030302020204" pitchFamily="34" charset="-127"/>
                    <a:cs typeface="Times New Roman" panose="02020603050405020304" pitchFamily="18" charset="0"/>
                  </a:rPr>
                  <a:t>Closed form </a:t>
                </a:r>
                <a:r>
                  <a:rPr lang="ko-KR" altLang="en-US" b="1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에스코어 드림 4 Regular" panose="020B0503030302020204" pitchFamily="34" charset="-127"/>
                    <a:cs typeface="Times New Roman" panose="02020603050405020304" pitchFamily="18" charset="0"/>
                  </a:rPr>
                  <a:t>이기 때문에 풀 수가 있음</a:t>
                </a:r>
                <a:r>
                  <a:rPr lang="en-US" altLang="ko-KR" b="1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에스코어 드림 4 Regular" panose="020B0503030302020204" pitchFamily="34" charset="-127"/>
                    <a:cs typeface="Times New Roman" panose="02020603050405020304" pitchFamily="18" charset="0"/>
                  </a:rPr>
                  <a:t>.</a:t>
                </a:r>
              </a:p>
              <a:p>
                <a:pPr marL="342900" lvl="1" indent="0">
                  <a:buNone/>
                </a:pPr>
                <a:endParaRPr lang="en-US" altLang="ko-KR" b="1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Times New Roman" panose="02020603050405020304" pitchFamily="18" charset="0"/>
                  <a:ea typeface="에스코어 드림 4 Regular" panose="020B0503030302020204" pitchFamily="34" charset="-127"/>
                  <a:cs typeface="Times New Roman" panose="02020603050405020304" pitchFamily="18" charset="0"/>
                </a:endParaRPr>
              </a:p>
              <a:p>
                <a:pPr marL="342900" lvl="1" indent="0">
                  <a:buNone/>
                </a:pPr>
                <a:r>
                  <a:rPr lang="ko-KR" altLang="en-US" b="1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에스코어 드림 4 Regular" panose="020B0503030302020204" pitchFamily="34" charset="-127"/>
                    <a:cs typeface="Times New Roman" panose="02020603050405020304" pitchFamily="18" charset="0"/>
                  </a:rPr>
                  <a:t> </a:t>
                </a:r>
                <a:endParaRPr lang="en-US" altLang="ko-KR" b="1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Times New Roman" panose="02020603050405020304" pitchFamily="18" charset="0"/>
                  <a:ea typeface="에스코어 드림 4 Regular" panose="020B0503030302020204" pitchFamily="34" charset="-127"/>
                  <a:cs typeface="Times New Roman" panose="02020603050405020304" pitchFamily="18" charset="0"/>
                </a:endParaRPr>
              </a:p>
              <a:p>
                <a:pPr lvl="1"/>
                <a:endParaRPr lang="en-US" altLang="ko-KR" b="1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Times New Roman" panose="02020603050405020304" pitchFamily="18" charset="0"/>
                  <a:ea typeface="에스코어 드림 4 Regular" panose="020B0503030302020204" pitchFamily="34" charset="-127"/>
                  <a:cs typeface="Times New Roman" panose="02020603050405020304" pitchFamily="18" charset="0"/>
                </a:endParaRPr>
              </a:p>
              <a:p>
                <a:pPr marL="342900" lvl="1" indent="0">
                  <a:buNone/>
                </a:pPr>
                <a:endParaRPr lang="en-US" altLang="ko-KR" sz="125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Times New Roman" panose="02020603050405020304" pitchFamily="18" charset="0"/>
                  <a:ea typeface="에스코어 드림 4 Regular" panose="020B0503030302020204" pitchFamily="34" charset="-127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7" name="내용 개체 틀 2">
                <a:extLst>
                  <a:ext uri="{FF2B5EF4-FFF2-40B4-BE49-F238E27FC236}">
                    <a16:creationId xmlns:a16="http://schemas.microsoft.com/office/drawing/2014/main" id="{25CFCB9F-8C1B-E597-37A4-1727E9E53F9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2400" y="951551"/>
                <a:ext cx="6477000" cy="3753799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EC9B3AE-17C4-6783-7F42-1ED67F8617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3</a:t>
            </a:fld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962EC8B-E59A-04EE-AE14-8E335A214B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400" y="2586228"/>
            <a:ext cx="6698235" cy="701663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F1BFCAF8-DF1C-E7A4-8530-A70C0D02900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8023" y="2231620"/>
            <a:ext cx="6056254" cy="507862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BC28BA5E-6A0F-501D-CAC8-D1B962C7BD1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83137" y="3448095"/>
            <a:ext cx="3436759" cy="1487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46544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4044C7-752D-B7C0-E1F1-83A97BF7C4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48DE8F-0A4F-4746-C06E-DFF68A32A4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" y="344671"/>
            <a:ext cx="6286500" cy="470855"/>
          </a:xfrm>
        </p:spPr>
        <p:txBody>
          <a:bodyPr/>
          <a:lstStyle/>
          <a:p>
            <a:r>
              <a:rPr lang="en-US" altLang="ko-KR" dirty="0" err="1"/>
              <a:t>HiPPO</a:t>
            </a:r>
            <a:r>
              <a:rPr lang="en-US" altLang="ko-KR" dirty="0"/>
              <a:t>: Recurrent Memory with Optimal Polynomial Projection</a:t>
            </a:r>
            <a:endParaRPr lang="ko-KR" altLang="en-US" sz="1400" dirty="0">
              <a:ln>
                <a:noFill/>
              </a:ln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내용 개체 틀 2">
                <a:extLst>
                  <a:ext uri="{FF2B5EF4-FFF2-40B4-BE49-F238E27FC236}">
                    <a16:creationId xmlns:a16="http://schemas.microsoft.com/office/drawing/2014/main" id="{68BA0B5C-8F54-E829-9139-380795B90F5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52400" y="951551"/>
                <a:ext cx="6477000" cy="3753799"/>
              </a:xfrm>
            </p:spPr>
            <p:txBody>
              <a:bodyPr vert="horz" lIns="91440" tIns="45720" rIns="91440" bIns="45720" rtlCol="0">
                <a:no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altLang="ko-KR" b="1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에스코어 드림 4 Regular" panose="020B0503030302020204" pitchFamily="34" charset="-127"/>
                    <a:cs typeface="Times New Roman" panose="02020603050405020304" pitchFamily="18" charset="0"/>
                  </a:rPr>
                  <a:t>Orthogonal Polynomial Basis</a:t>
                </a:r>
                <a:r>
                  <a:rPr lang="ko-KR" altLang="en-US" b="1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에스코어 드림 4 Regular" panose="020B0503030302020204" pitchFamily="34" charset="-127"/>
                    <a:cs typeface="Times New Roman" panose="02020603050405020304" pitchFamily="18" charset="0"/>
                  </a:rPr>
                  <a:t>위에서</a:t>
                </a:r>
                <a:r>
                  <a:rPr lang="en-US" altLang="ko-KR" b="1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에스코어 드림 4 Regular" panose="020B0503030302020204" pitchFamily="34" charset="-127"/>
                    <a:cs typeface="Times New Roman" panose="02020603050405020304" pitchFamily="18" charset="0"/>
                  </a:rPr>
                  <a:t> </a:t>
                </a:r>
                <a:r>
                  <a:rPr lang="en-US" altLang="ko-KR" b="1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rgbClr val="FF0000"/>
                    </a:solidFill>
                    <a:latin typeface="Times New Roman" panose="02020603050405020304" pitchFamily="18" charset="0"/>
                    <a:ea typeface="에스코어 드림 4 Regular" panose="020B0503030302020204" pitchFamily="34" charset="-127"/>
                    <a:cs typeface="Times New Roman" panose="02020603050405020304" pitchFamily="18" charset="0"/>
                  </a:rPr>
                  <a:t>Online Approximation </a:t>
                </a:r>
                <a:r>
                  <a:rPr lang="ko-KR" altLang="en-US" b="1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에스코어 드림 4 Regular" panose="020B0503030302020204" pitchFamily="34" charset="-127"/>
                    <a:cs typeface="Times New Roman" panose="02020603050405020304" pitchFamily="18" charset="0"/>
                  </a:rPr>
                  <a:t>을 하자</a:t>
                </a:r>
                <a:r>
                  <a:rPr lang="en-US" altLang="ko-KR" b="1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에스코어 드림 4 Regular" panose="020B0503030302020204" pitchFamily="34" charset="-127"/>
                    <a:cs typeface="Times New Roman" panose="02020603050405020304" pitchFamily="18" charset="0"/>
                  </a:rPr>
                  <a:t>!</a:t>
                </a:r>
              </a:p>
              <a:p>
                <a:pPr lvl="1"/>
                <a:r>
                  <a:rPr lang="ko-KR" altLang="en-US" b="1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에스코어 드림 4 Regular" panose="020B0503030302020204" pitchFamily="34" charset="-127"/>
                    <a:cs typeface="Times New Roman" panose="02020603050405020304" pitchFamily="18" charset="0"/>
                  </a:rPr>
                  <a:t>장점</a:t>
                </a:r>
                <a:r>
                  <a:rPr lang="en-US" altLang="ko-KR" b="1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에스코어 드림 4 Regular" panose="020B0503030302020204" pitchFamily="34" charset="-127"/>
                    <a:cs typeface="Times New Roman" panose="02020603050405020304" pitchFamily="18" charset="0"/>
                  </a:rPr>
                  <a:t>: </a:t>
                </a:r>
                <a:r>
                  <a:rPr lang="ko-KR" altLang="en-US" b="1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에스코어 드림 4 Regular" panose="020B0503030302020204" pitchFamily="34" charset="-127"/>
                    <a:cs typeface="Times New Roman" panose="02020603050405020304" pitchFamily="18" charset="0"/>
                  </a:rPr>
                  <a:t>과거의 </a:t>
                </a:r>
                <a:r>
                  <a:rPr lang="en-US" altLang="ko-KR" b="1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에스코어 드림 4 Regular" panose="020B0503030302020204" pitchFamily="34" charset="-127"/>
                    <a:cs typeface="Times New Roman" panose="02020603050405020304" pitchFamily="18" charset="0"/>
                  </a:rPr>
                  <a:t>Decomposition </a:t>
                </a:r>
                <a:r>
                  <a:rPr lang="ko-KR" altLang="en-US" b="1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에스코어 드림 4 Regular" panose="020B0503030302020204" pitchFamily="34" charset="-127"/>
                    <a:cs typeface="Times New Roman" panose="02020603050405020304" pitchFamily="18" charset="0"/>
                  </a:rPr>
                  <a:t>같은 경우</a:t>
                </a:r>
                <a:r>
                  <a:rPr lang="en-US" altLang="ko-KR" b="1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에스코어 드림 4 Regular" panose="020B0503030302020204" pitchFamily="34" charset="-127"/>
                    <a:cs typeface="Times New Roman" panose="02020603050405020304" pitchFamily="18" charset="0"/>
                  </a:rPr>
                  <a:t>, Decomposition</a:t>
                </a:r>
                <a:r>
                  <a:rPr lang="ko-KR" altLang="en-US" b="1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에스코어 드림 4 Regular" panose="020B0503030302020204" pitchFamily="34" charset="-127"/>
                    <a:cs typeface="Times New Roman" panose="02020603050405020304" pitchFamily="18" charset="0"/>
                  </a:rPr>
                  <a:t> 한 값들의 </a:t>
                </a:r>
                <a:r>
                  <a:rPr lang="en-US" altLang="ko-KR" b="1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에스코어 드림 4 Regular" panose="020B0503030302020204" pitchFamily="34" charset="-127"/>
                    <a:cs typeface="Times New Roman" panose="02020603050405020304" pitchFamily="18" charset="0"/>
                  </a:rPr>
                  <a:t>Set</a:t>
                </a:r>
                <a:r>
                  <a:rPr lang="ko-KR" altLang="en-US" b="1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에스코어 드림 4 Regular" panose="020B0503030302020204" pitchFamily="34" charset="-127"/>
                    <a:cs typeface="Times New Roman" panose="02020603050405020304" pitchFamily="18" charset="0"/>
                  </a:rPr>
                  <a:t>들을 </a:t>
                </a:r>
                <a:r>
                  <a:rPr lang="en-US" altLang="ko-KR" b="1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에스코어 드림 4 Regular" panose="020B0503030302020204" pitchFamily="34" charset="-127"/>
                    <a:cs typeface="Times New Roman" panose="02020603050405020304" pitchFamily="18" charset="0"/>
                  </a:rPr>
                  <a:t>Vector</a:t>
                </a:r>
                <a:r>
                  <a:rPr lang="ko-KR" altLang="en-US" b="1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에스코어 드림 4 Regular" panose="020B0503030302020204" pitchFamily="34" charset="-127"/>
                    <a:cs typeface="Times New Roman" panose="02020603050405020304" pitchFamily="18" charset="0"/>
                  </a:rPr>
                  <a:t>로 볼 수 없었는데</a:t>
                </a:r>
                <a:r>
                  <a:rPr lang="en-US" altLang="ko-KR" b="1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에스코어 드림 4 Regular" panose="020B0503030302020204" pitchFamily="34" charset="-127"/>
                    <a:cs typeface="Times New Roman" panose="02020603050405020304" pitchFamily="18" charset="0"/>
                  </a:rPr>
                  <a:t>, Vector</a:t>
                </a:r>
                <a:r>
                  <a:rPr lang="ko-KR" altLang="en-US" b="1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에스코어 드림 4 Regular" panose="020B0503030302020204" pitchFamily="34" charset="-127"/>
                    <a:cs typeface="Times New Roman" panose="02020603050405020304" pitchFamily="18" charset="0"/>
                  </a:rPr>
                  <a:t>로 보고 </a:t>
                </a:r>
                <a:r>
                  <a:rPr lang="en-US" altLang="ko-KR" b="1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에스코어 드림 4 Regular" panose="020B0503030302020204" pitchFamily="34" charset="-127"/>
                    <a:cs typeface="Times New Roman" panose="02020603050405020304" pitchFamily="18" charset="0"/>
                  </a:rPr>
                  <a:t>Inner</a:t>
                </a:r>
                <a:r>
                  <a:rPr lang="ko-KR" altLang="en-US" b="1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에스코어 드림 4 Regular" panose="020B0503030302020204" pitchFamily="34" charset="-127"/>
                    <a:cs typeface="Times New Roman" panose="02020603050405020304" pitchFamily="18" charset="0"/>
                  </a:rPr>
                  <a:t> </a:t>
                </a:r>
                <a:r>
                  <a:rPr lang="en-US" altLang="ko-KR" b="1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에스코어 드림 4 Regular" panose="020B0503030302020204" pitchFamily="34" charset="-127"/>
                    <a:cs typeface="Times New Roman" panose="02020603050405020304" pitchFamily="18" charset="0"/>
                  </a:rPr>
                  <a:t>product, Outer product </a:t>
                </a:r>
                <a:r>
                  <a:rPr lang="ko-KR" altLang="en-US" b="1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에스코어 드림 4 Regular" panose="020B0503030302020204" pitchFamily="34" charset="-127"/>
                    <a:cs typeface="Times New Roman" panose="02020603050405020304" pitchFamily="18" charset="0"/>
                  </a:rPr>
                  <a:t>같은 일반 수학이 적용이 가능함</a:t>
                </a:r>
                <a:r>
                  <a:rPr lang="en-US" altLang="ko-KR" b="1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에스코어 드림 4 Regular" panose="020B0503030302020204" pitchFamily="34" charset="-127"/>
                    <a:cs typeface="Times New Roman" panose="02020603050405020304" pitchFamily="18" charset="0"/>
                  </a:rPr>
                  <a:t>.</a:t>
                </a:r>
              </a:p>
              <a:p>
                <a:pPr lvl="1"/>
                <a:endParaRPr lang="en-US" altLang="ko-KR" b="1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Times New Roman" panose="02020603050405020304" pitchFamily="18" charset="0"/>
                  <a:ea typeface="에스코어 드림 4 Regular" panose="020B0503030302020204" pitchFamily="34" charset="-127"/>
                  <a:cs typeface="Times New Roman" panose="02020603050405020304" pitchFamily="18" charset="0"/>
                </a:endParaRPr>
              </a:p>
              <a:p>
                <a:pPr lvl="1"/>
                <a:r>
                  <a:rPr lang="ko-KR" altLang="en-US" b="1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에스코어 드림 4 Regular" panose="020B0503030302020204" pitchFamily="34" charset="-127"/>
                    <a:cs typeface="Times New Roman" panose="02020603050405020304" pitchFamily="18" charset="0"/>
                  </a:rPr>
                  <a:t>그런데</a:t>
                </a:r>
                <a:r>
                  <a:rPr lang="en-US" altLang="ko-KR" b="1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에스코어 드림 4 Regular" panose="020B0503030302020204" pitchFamily="34" charset="-127"/>
                    <a:cs typeface="Times New Roman" panose="02020603050405020304" pitchFamily="18" charset="0"/>
                  </a:rPr>
                  <a:t> </a:t>
                </a:r>
                <a:r>
                  <a:rPr lang="ko-KR" altLang="en-US" b="1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에스코어 드림 4 Regular" panose="020B0503030302020204" pitchFamily="34" charset="-127"/>
                    <a:cs typeface="Times New Roman" panose="02020603050405020304" pitchFamily="18" charset="0"/>
                  </a:rPr>
                  <a:t>이걸 </a:t>
                </a:r>
                <a:r>
                  <a:rPr lang="en-US" altLang="ko-KR" b="1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에스코어 드림 4 Regular" panose="020B0503030302020204" pitchFamily="34" charset="-127"/>
                    <a:cs typeface="Times New Roman" panose="02020603050405020304" pitchFamily="18" charset="0"/>
                  </a:rPr>
                  <a:t>Closed form</a:t>
                </a:r>
                <a:r>
                  <a:rPr lang="ko-KR" altLang="en-US" b="1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에스코어 드림 4 Regular" panose="020B0503030302020204" pitchFamily="34" charset="-127"/>
                    <a:cs typeface="Times New Roman" panose="02020603050405020304" pitchFamily="18" charset="0"/>
                  </a:rPr>
                  <a:t>을 보고 풀다 보면 </a:t>
                </a:r>
                <a14:m>
                  <m:oMath xmlns:m="http://schemas.openxmlformats.org/officeDocument/2006/math">
                    <m:r>
                      <a:rPr lang="en-US" altLang="ko-KR" b="1" i="1" smtClean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에스코어 드림 4 Regular" panose="020B0503030302020204" pitchFamily="34" charset="-127"/>
                        <a:cs typeface="Times New Roman" panose="02020603050405020304" pitchFamily="18" charset="0"/>
                      </a:rPr>
                      <m:t>𝒄</m:t>
                    </m:r>
                    <m:r>
                      <a:rPr lang="en-US" altLang="ko-KR" b="1" i="1" smtClean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에스코어 드림 4 Regular" panose="020B0503030302020204" pitchFamily="34" charset="-127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ko-KR" b="1" i="1" smtClean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에스코어 드림 4 Regular" panose="020B0503030302020204" pitchFamily="34" charset="-127"/>
                        <a:cs typeface="Times New Roman" panose="02020603050405020304" pitchFamily="18" charset="0"/>
                      </a:rPr>
                      <m:t>𝒕</m:t>
                    </m:r>
                    <m:r>
                      <a:rPr lang="en-US" altLang="ko-KR" b="1" i="1" smtClean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에스코어 드림 4 Regular" panose="020B0503030302020204" pitchFamily="34" charset="-127"/>
                        <a:cs typeface="Times New Roman" panose="02020603050405020304" pitchFamily="18" charset="0"/>
                      </a:rPr>
                      <m:t>)의</m:t>
                    </m:r>
                  </m:oMath>
                </a14:m>
                <a:r>
                  <a:rPr lang="en-US" altLang="ko-KR" b="1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에스코어 드림 4 Regular" panose="020B0503030302020204" pitchFamily="34" charset="-127"/>
                    <a:cs typeface="Times New Roman" panose="02020603050405020304" pitchFamily="18" charset="0"/>
                  </a:rPr>
                  <a:t> </a:t>
                </a:r>
                <a:r>
                  <a:rPr lang="ko-KR" altLang="en-US" b="1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에스코어 드림 4 Regular" panose="020B0503030302020204" pitchFamily="34" charset="-127"/>
                    <a:cs typeface="Times New Roman" panose="02020603050405020304" pitchFamily="18" charset="0"/>
                  </a:rPr>
                  <a:t>본질은 결국 </a:t>
                </a:r>
                <a:r>
                  <a:rPr lang="en-US" altLang="ko-KR" b="1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에스코어 드림 4 Regular" panose="020B0503030302020204" pitchFamily="34" charset="-127"/>
                    <a:cs typeface="Times New Roman" panose="02020603050405020304" pitchFamily="18" charset="0"/>
                  </a:rPr>
                  <a:t>A(t)</a:t>
                </a:r>
                <a:r>
                  <a:rPr lang="ko-KR" altLang="en-US" b="1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에스코어 드림 4 Regular" panose="020B0503030302020204" pitchFamily="34" charset="-127"/>
                    <a:cs typeface="Times New Roman" panose="02020603050405020304" pitchFamily="18" charset="0"/>
                  </a:rPr>
                  <a:t>가 정의한다는 사실을 알 수 있음</a:t>
                </a:r>
                <a:r>
                  <a:rPr lang="en-US" altLang="ko-KR" b="1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에스코어 드림 4 Regular" panose="020B0503030302020204" pitchFamily="34" charset="-127"/>
                    <a:cs typeface="Times New Roman" panose="02020603050405020304" pitchFamily="18" charset="0"/>
                  </a:rPr>
                  <a:t>.</a:t>
                </a:r>
              </a:p>
              <a:p>
                <a:pPr marL="342900" lvl="1" indent="0">
                  <a:buNone/>
                </a:pPr>
                <a:r>
                  <a:rPr lang="en-US" altLang="ko-KR" b="1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에스코어 드림 4 Regular" panose="020B0503030302020204" pitchFamily="34" charset="-127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b="1">
                            <a:ln>
                              <a:solidFill>
                                <a:schemeClr val="tx1">
                                  <a:alpha val="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에스코어 드림 4 Regular" panose="020B0503030302020204" pitchFamily="34" charset="-127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ko-KR" b="1">
                            <a:ln>
                              <a:solidFill>
                                <a:schemeClr val="tx1">
                                  <a:alpha val="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에스코어 드림 4 Regular" panose="020B0503030302020204" pitchFamily="34" charset="-127"/>
                            <a:cs typeface="Times New Roman" panose="02020603050405020304" pitchFamily="18" charset="0"/>
                          </a:rPr>
                          <m:t>𝑑</m:t>
                        </m:r>
                      </m:num>
                      <m:den>
                        <m:r>
                          <a:rPr lang="en-US" altLang="ko-KR" b="1">
                            <a:ln>
                              <a:solidFill>
                                <a:schemeClr val="tx1">
                                  <a:alpha val="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에스코어 드림 4 Regular" panose="020B0503030302020204" pitchFamily="34" charset="-127"/>
                            <a:cs typeface="Times New Roman" panose="02020603050405020304" pitchFamily="18" charset="0"/>
                          </a:rPr>
                          <m:t>𝑑𝑡</m:t>
                        </m:r>
                      </m:den>
                    </m:f>
                    <m:r>
                      <a:rPr lang="en-US" altLang="ko-KR" b="1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에스코어 드림 4 Regular" panose="020B0503030302020204" pitchFamily="34" charset="-127"/>
                        <a:cs typeface="Times New Roman" panose="02020603050405020304" pitchFamily="18" charset="0"/>
                      </a:rPr>
                      <m:t>𝑐</m:t>
                    </m:r>
                    <m:d>
                      <m:dPr>
                        <m:ctrlPr>
                          <a:rPr lang="en-US" altLang="ko-KR" b="1">
                            <a:ln>
                              <a:solidFill>
                                <a:schemeClr val="tx1">
                                  <a:alpha val="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에스코어 드림 4 Regular" panose="020B0503030302020204" pitchFamily="34" charset="-127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ko-KR" b="1">
                            <a:ln>
                              <a:solidFill>
                                <a:schemeClr val="tx1">
                                  <a:alpha val="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에스코어 드림 4 Regular" panose="020B0503030302020204" pitchFamily="34" charset="-127"/>
                            <a:cs typeface="Times New Roman" panose="02020603050405020304" pitchFamily="18" charset="0"/>
                          </a:rPr>
                          <m:t>𝑡</m:t>
                        </m:r>
                      </m:e>
                    </m:d>
                    <m:r>
                      <a:rPr lang="en-US" altLang="ko-KR" b="1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에스코어 드림 4 Regular" panose="020B0503030302020204" pitchFamily="34" charset="-127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ko-KR" b="1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에스코어 드림 4 Regular" panose="020B0503030302020204" pitchFamily="34" charset="-127"/>
                        <a:cs typeface="Times New Roman" panose="02020603050405020304" pitchFamily="18" charset="0"/>
                      </a:rPr>
                      <m:t>𝐴</m:t>
                    </m:r>
                    <m:d>
                      <m:dPr>
                        <m:ctrlPr>
                          <a:rPr lang="en-US" altLang="ko-KR" b="1">
                            <a:ln>
                              <a:solidFill>
                                <a:schemeClr val="tx1">
                                  <a:alpha val="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에스코어 드림 4 Regular" panose="020B0503030302020204" pitchFamily="34" charset="-127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ko-KR" b="1">
                            <a:ln>
                              <a:solidFill>
                                <a:schemeClr val="tx1">
                                  <a:alpha val="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에스코어 드림 4 Regular" panose="020B0503030302020204" pitchFamily="34" charset="-127"/>
                            <a:cs typeface="Times New Roman" panose="02020603050405020304" pitchFamily="18" charset="0"/>
                          </a:rPr>
                          <m:t>𝑡</m:t>
                        </m:r>
                      </m:e>
                    </m:d>
                    <m:r>
                      <a:rPr lang="en-US" altLang="ko-KR" b="1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에스코어 드림 4 Regular" panose="020B0503030302020204" pitchFamily="34" charset="-127"/>
                        <a:cs typeface="Times New Roman" panose="02020603050405020304" pitchFamily="18" charset="0"/>
                      </a:rPr>
                      <m:t>𝑐</m:t>
                    </m:r>
                    <m:d>
                      <m:dPr>
                        <m:ctrlPr>
                          <a:rPr lang="en-US" altLang="ko-KR" b="1">
                            <a:ln>
                              <a:solidFill>
                                <a:schemeClr val="tx1">
                                  <a:alpha val="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에스코어 드림 4 Regular" panose="020B0503030302020204" pitchFamily="34" charset="-127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ko-KR" b="1">
                            <a:ln>
                              <a:solidFill>
                                <a:schemeClr val="tx1">
                                  <a:alpha val="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에스코어 드림 4 Regular" panose="020B0503030302020204" pitchFamily="34" charset="-127"/>
                            <a:cs typeface="Times New Roman" panose="02020603050405020304" pitchFamily="18" charset="0"/>
                          </a:rPr>
                          <m:t>𝑡</m:t>
                        </m:r>
                      </m:e>
                    </m:d>
                    <m:r>
                      <a:rPr lang="en-US" altLang="ko-KR" b="1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에스코어 드림 4 Regular" panose="020B0503030302020204" pitchFamily="34" charset="-127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altLang="ko-KR" b="1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에스코어 드림 4 Regular" panose="020B0503030302020204" pitchFamily="34" charset="-127"/>
                        <a:cs typeface="Times New Roman" panose="02020603050405020304" pitchFamily="18" charset="0"/>
                      </a:rPr>
                      <m:t>𝐵</m:t>
                    </m:r>
                    <m:d>
                      <m:dPr>
                        <m:ctrlPr>
                          <a:rPr lang="en-US" altLang="ko-KR" b="1">
                            <a:ln>
                              <a:solidFill>
                                <a:schemeClr val="tx1">
                                  <a:alpha val="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에스코어 드림 4 Regular" panose="020B0503030302020204" pitchFamily="34" charset="-127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ko-KR" b="1">
                            <a:ln>
                              <a:solidFill>
                                <a:schemeClr val="tx1">
                                  <a:alpha val="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에스코어 드림 4 Regular" panose="020B0503030302020204" pitchFamily="34" charset="-127"/>
                            <a:cs typeface="Times New Roman" panose="02020603050405020304" pitchFamily="18" charset="0"/>
                          </a:rPr>
                          <m:t>𝑡</m:t>
                        </m:r>
                      </m:e>
                    </m:d>
                    <m:r>
                      <a:rPr lang="en-US" altLang="ko-KR" b="1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에스코어 드림 4 Regular" panose="020B0503030302020204" pitchFamily="34" charset="-127"/>
                        <a:cs typeface="Times New Roman" panose="02020603050405020304" pitchFamily="18" charset="0"/>
                      </a:rPr>
                      <m:t>𝑓</m:t>
                    </m:r>
                    <m:r>
                      <a:rPr lang="en-US" altLang="ko-KR" b="1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에스코어 드림 4 Regular" panose="020B0503030302020204" pitchFamily="34" charset="-127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ko-KR" b="1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에스코어 드림 4 Regular" panose="020B0503030302020204" pitchFamily="34" charset="-127"/>
                        <a:cs typeface="Times New Roman" panose="02020603050405020304" pitchFamily="18" charset="0"/>
                      </a:rPr>
                      <m:t>𝑡</m:t>
                    </m:r>
                    <m:r>
                      <a:rPr lang="en-US" altLang="ko-KR" b="1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에스코어 드림 4 Regular" panose="020B0503030302020204" pitchFamily="34" charset="-127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altLang="ko-KR" b="1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에스코어 드림 4 Regular" panose="020B0503030302020204" pitchFamily="34" charset="-127"/>
                    <a:cs typeface="Times New Roman" panose="02020603050405020304" pitchFamily="18" charset="0"/>
                  </a:rPr>
                  <a:t> </a:t>
                </a:r>
                <a:r>
                  <a:rPr lang="ko-KR" altLang="en-US" b="1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에스코어 드림 4 Regular" panose="020B0503030302020204" pitchFamily="34" charset="-127"/>
                    <a:cs typeface="Times New Roman" panose="02020603050405020304" pitchFamily="18" charset="0"/>
                  </a:rPr>
                  <a:t>형식이 전부 </a:t>
                </a:r>
                <a:r>
                  <a:rPr lang="en-US" altLang="ko-KR" b="1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rgbClr val="FF0000"/>
                    </a:solidFill>
                    <a:latin typeface="Times New Roman" panose="02020603050405020304" pitchFamily="18" charset="0"/>
                    <a:ea typeface="에스코어 드림 4 Regular" panose="020B0503030302020204" pitchFamily="34" charset="-127"/>
                    <a:cs typeface="Times New Roman" panose="02020603050405020304" pitchFamily="18" charset="0"/>
                  </a:rPr>
                  <a:t>LRW state matrix A </a:t>
                </a:r>
                <a:r>
                  <a:rPr lang="ko-KR" altLang="en-US" b="1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에스코어 드림 4 Regular" panose="020B0503030302020204" pitchFamily="34" charset="-127"/>
                    <a:cs typeface="Times New Roman" panose="02020603050405020304" pitchFamily="18" charset="0"/>
                  </a:rPr>
                  <a:t>라면</a:t>
                </a:r>
                <a:r>
                  <a:rPr lang="en-US" altLang="ko-KR" b="1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에스코어 드림 4 Regular" panose="020B0503030302020204" pitchFamily="34" charset="-127"/>
                    <a:cs typeface="Times New Roman" panose="02020603050405020304" pitchFamily="18" charset="0"/>
                  </a:rPr>
                  <a:t>, weight function </a:t>
                </a:r>
                <a:r>
                  <a:rPr lang="ko-KR" altLang="en-US" b="1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에스코어 드림 4 Regular" panose="020B0503030302020204" pitchFamily="34" charset="-127"/>
                    <a:cs typeface="Times New Roman" panose="02020603050405020304" pitchFamily="18" charset="0"/>
                  </a:rPr>
                  <a:t>상관 없이 </a:t>
                </a:r>
                <a:r>
                  <a:rPr lang="en-US" altLang="ko-KR" b="1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에스코어 드림 4 Regular" panose="020B0503030302020204" pitchFamily="34" charset="-127"/>
                    <a:cs typeface="Times New Roman" panose="02020603050405020304" pitchFamily="18" charset="0"/>
                  </a:rPr>
                  <a:t>Closed form </a:t>
                </a:r>
                <a:r>
                  <a:rPr lang="ko-KR" altLang="en-US" b="1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에스코어 드림 4 Regular" panose="020B0503030302020204" pitchFamily="34" charset="-127"/>
                    <a:cs typeface="Times New Roman" panose="02020603050405020304" pitchFamily="18" charset="0"/>
                  </a:rPr>
                  <a:t>임</a:t>
                </a:r>
                <a:r>
                  <a:rPr lang="en-US" altLang="ko-KR" b="1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에스코어 드림 4 Regular" panose="020B0503030302020204" pitchFamily="34" charset="-127"/>
                    <a:cs typeface="Times New Roman" panose="02020603050405020304" pitchFamily="18" charset="0"/>
                  </a:rPr>
                  <a:t>)</a:t>
                </a:r>
              </a:p>
              <a:p>
                <a:pPr lvl="1"/>
                <a:r>
                  <a:rPr lang="en-US" altLang="ko-KR" b="1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에스코어 드림 4 Regular" panose="020B0503030302020204" pitchFamily="34" charset="-127"/>
                    <a:cs typeface="Times New Roman" panose="02020603050405020304" pitchFamily="18" charset="0"/>
                  </a:rPr>
                  <a:t>LRW</a:t>
                </a:r>
                <a:r>
                  <a:rPr lang="en-US" altLang="ko-KR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rgbClr val="0070C0"/>
                    </a:solidFill>
                    <a:latin typeface="Times New Roman" panose="02020603050405020304" pitchFamily="18" charset="0"/>
                    <a:ea typeface="에스코어 드림 4 Regular" panose="020B0503030302020204" pitchFamily="34" charset="-127"/>
                    <a:cs typeface="Times New Roman" panose="02020603050405020304" pitchFamily="18" charset="0"/>
                  </a:rPr>
                  <a:t> </a:t>
                </a:r>
                <a:r>
                  <a:rPr lang="en-US" altLang="ko-KR" b="1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rgbClr val="0070C0"/>
                    </a:solidFill>
                    <a:latin typeface="Times New Roman" panose="02020603050405020304" pitchFamily="18" charset="0"/>
                    <a:ea typeface="에스코어 드림 4 Regular" panose="020B0503030302020204" pitchFamily="34" charset="-127"/>
                    <a:cs typeface="Times New Roman" panose="02020603050405020304" pitchFamily="18" charset="0"/>
                  </a:rPr>
                  <a:t>(2016, ACM, Sa et al.)</a:t>
                </a:r>
                <a:r>
                  <a:rPr lang="ko-KR" altLang="en-US" b="1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에스코어 드림 4 Regular" panose="020B0503030302020204" pitchFamily="34" charset="-127"/>
                    <a:cs typeface="Times New Roman" panose="02020603050405020304" pitchFamily="18" charset="0"/>
                  </a:rPr>
                  <a:t> 는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1" i="1" smtClean="0">
                            <a:ln>
                              <a:solidFill>
                                <a:schemeClr val="tx1">
                                  <a:alpha val="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에스코어 드림 4 Regular" panose="020B0503030302020204" pitchFamily="34" charset="-127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b="1" i="1" smtClean="0">
                            <a:ln>
                              <a:solidFill>
                                <a:schemeClr val="tx1">
                                  <a:alpha val="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에스코어 드림 4 Regular" panose="020B0503030302020204" pitchFamily="34" charset="-127"/>
                            <a:cs typeface="Times New Roman" panose="02020603050405020304" pitchFamily="18" charset="0"/>
                          </a:rPr>
                          <m:t>𝒂</m:t>
                        </m:r>
                      </m:e>
                      <m:sub>
                        <m:r>
                          <a:rPr lang="en-US" altLang="ko-KR" b="1" i="1" smtClean="0">
                            <a:ln>
                              <a:solidFill>
                                <a:schemeClr val="tx1">
                                  <a:alpha val="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에스코어 드림 4 Regular" panose="020B0503030302020204" pitchFamily="34" charset="-127"/>
                            <a:cs typeface="Times New Roman" panose="02020603050405020304" pitchFamily="18" charset="0"/>
                          </a:rPr>
                          <m:t>𝒊</m:t>
                        </m:r>
                      </m:sub>
                    </m:sSub>
                    <m:d>
                      <m:dPr>
                        <m:ctrlPr>
                          <a:rPr lang="en-US" altLang="ko-KR" b="1" i="1" smtClean="0">
                            <a:ln>
                              <a:solidFill>
                                <a:schemeClr val="tx1">
                                  <a:alpha val="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에스코어 드림 4 Regular" panose="020B0503030302020204" pitchFamily="34" charset="-127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ko-KR" b="1" i="1" smtClean="0">
                            <a:ln>
                              <a:solidFill>
                                <a:schemeClr val="tx1">
                                  <a:alpha val="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에스코어 드림 4 Regular" panose="020B0503030302020204" pitchFamily="34" charset="-127"/>
                            <a:cs typeface="Times New Roman" panose="02020603050405020304" pitchFamily="18" charset="0"/>
                          </a:rPr>
                          <m:t>𝒙</m:t>
                        </m:r>
                      </m:e>
                    </m:d>
                    <m:r>
                      <a:rPr lang="en-US" altLang="ko-KR" b="1" i="1" smtClean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에스코어 드림 4 Regular" panose="020B0503030302020204" pitchFamily="34" charset="-127"/>
                        <a:cs typeface="Times New Roman" panose="02020603050405020304" pitchFamily="18" charset="0"/>
                      </a:rPr>
                      <m:t>= </m:t>
                    </m:r>
                    <m:nary>
                      <m:naryPr>
                        <m:chr m:val="∑"/>
                        <m:ctrlPr>
                          <a:rPr lang="en-US" altLang="ko-KR" b="1" i="1" smtClean="0">
                            <a:ln>
                              <a:solidFill>
                                <a:schemeClr val="tx1">
                                  <a:alpha val="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에스코어 드림 4 Regular" panose="020B0503030302020204" pitchFamily="34" charset="-127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ko-KR" b="1" i="1" smtClean="0">
                            <a:ln>
                              <a:solidFill>
                                <a:schemeClr val="tx1">
                                  <a:alpha val="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에스코어 드림 4 Regular" panose="020B0503030302020204" pitchFamily="34" charset="-127"/>
                            <a:cs typeface="Times New Roman" panose="02020603050405020304" pitchFamily="18" charset="0"/>
                          </a:rPr>
                          <m:t>𝒋</m:t>
                        </m:r>
                        <m:r>
                          <m:rPr>
                            <m:brk m:alnAt="23"/>
                          </m:rPr>
                          <a:rPr lang="en-US" altLang="ko-KR" b="1" i="1" smtClean="0">
                            <a:ln>
                              <a:solidFill>
                                <a:schemeClr val="tx1">
                                  <a:alpha val="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에스코어 드림 4 Regular" panose="020B0503030302020204" pitchFamily="34" charset="-127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m:rPr>
                            <m:brk m:alnAt="23"/>
                          </m:rPr>
                          <a:rPr lang="en-US" altLang="ko-KR" b="1" i="1" smtClean="0">
                            <a:ln>
                              <a:solidFill>
                                <a:schemeClr val="tx1">
                                  <a:alpha val="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에스코어 드림 4 Regular" panose="020B0503030302020204" pitchFamily="34" charset="-127"/>
                            <a:cs typeface="Times New Roman" panose="02020603050405020304" pitchFamily="18" charset="0"/>
                          </a:rPr>
                          <m:t>𝟏</m:t>
                        </m:r>
                      </m:sub>
                      <m:sup>
                        <m:r>
                          <a:rPr lang="en-US" altLang="ko-KR" b="1" i="1" smtClean="0">
                            <a:ln>
                              <a:solidFill>
                                <a:schemeClr val="tx1">
                                  <a:alpha val="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에스코어 드림 4 Regular" panose="020B0503030302020204" pitchFamily="34" charset="-127"/>
                            <a:cs typeface="Times New Roman" panose="02020603050405020304" pitchFamily="18" charset="0"/>
                          </a:rPr>
                          <m:t>𝒕</m:t>
                        </m:r>
                      </m:sup>
                      <m:e>
                        <m:sSub>
                          <m:sSubPr>
                            <m:ctrlPr>
                              <a:rPr lang="en-US" altLang="ko-KR" b="1" i="1" smtClean="0">
                                <a:ln>
                                  <a:solidFill>
                                    <a:schemeClr val="tx1">
                                      <a:alpha val="0"/>
                                    </a:schemeClr>
                                  </a:solidFill>
                                </a:ln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에스코어 드림 4 Regular" panose="020B0503030302020204" pitchFamily="34" charset="-127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 smtClean="0">
                                <a:ln>
                                  <a:solidFill>
                                    <a:schemeClr val="tx1">
                                      <a:alpha val="0"/>
                                    </a:schemeClr>
                                  </a:solidFill>
                                </a:ln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에스코어 드림 4 Regular" panose="020B0503030302020204" pitchFamily="34" charset="-127"/>
                                <a:cs typeface="Times New Roman" panose="02020603050405020304" pitchFamily="18" charset="0"/>
                              </a:rPr>
                              <m:t>𝒈</m:t>
                            </m:r>
                          </m:e>
                          <m:sub>
                            <m:r>
                              <a:rPr lang="en-US" altLang="ko-KR" b="1" i="1" smtClean="0">
                                <a:ln>
                                  <a:solidFill>
                                    <a:schemeClr val="tx1">
                                      <a:alpha val="0"/>
                                    </a:schemeClr>
                                  </a:solidFill>
                                </a:ln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에스코어 드림 4 Regular" panose="020B0503030302020204" pitchFamily="34" charset="-127"/>
                                <a:cs typeface="Times New Roman" panose="02020603050405020304" pitchFamily="18" charset="0"/>
                              </a:rPr>
                              <m:t>𝒊</m:t>
                            </m:r>
                            <m:r>
                              <a:rPr lang="en-US" altLang="ko-KR" b="1" i="1" smtClean="0">
                                <a:ln>
                                  <a:solidFill>
                                    <a:schemeClr val="tx1">
                                      <a:alpha val="0"/>
                                    </a:schemeClr>
                                  </a:solidFill>
                                </a:ln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에스코어 드림 4 Regular" panose="020B0503030302020204" pitchFamily="34" charset="-127"/>
                                <a:cs typeface="Times New Roman" panose="02020603050405020304" pitchFamily="18" charset="0"/>
                              </a:rPr>
                              <m:t>,</m:t>
                            </m:r>
                            <m:r>
                              <a:rPr lang="en-US" altLang="ko-KR" b="1" i="1" smtClean="0">
                                <a:ln>
                                  <a:solidFill>
                                    <a:schemeClr val="tx1">
                                      <a:alpha val="0"/>
                                    </a:schemeClr>
                                  </a:solidFill>
                                </a:ln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에스코어 드림 4 Regular" panose="020B0503030302020204" pitchFamily="34" charset="-127"/>
                                <a:cs typeface="Times New Roman" panose="02020603050405020304" pitchFamily="18" charset="0"/>
                              </a:rPr>
                              <m:t>𝒋</m:t>
                            </m:r>
                          </m:sub>
                        </m:sSub>
                      </m:e>
                    </m:nary>
                    <m:d>
                      <m:dPr>
                        <m:ctrlPr>
                          <a:rPr lang="en-US" altLang="ko-KR" b="1" i="1" smtClean="0">
                            <a:ln>
                              <a:solidFill>
                                <a:schemeClr val="tx1">
                                  <a:alpha val="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에스코어 드림 4 Regular" panose="020B0503030302020204" pitchFamily="34" charset="-127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ko-KR" b="1" i="1" smtClean="0">
                            <a:ln>
                              <a:solidFill>
                                <a:schemeClr val="tx1">
                                  <a:alpha val="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에스코어 드림 4 Regular" panose="020B0503030302020204" pitchFamily="34" charset="-127"/>
                            <a:cs typeface="Times New Roman" panose="02020603050405020304" pitchFamily="18" charset="0"/>
                          </a:rPr>
                          <m:t>𝑿</m:t>
                        </m:r>
                      </m:e>
                    </m:d>
                    <m:r>
                      <a:rPr lang="en-US" altLang="ko-KR" b="1" i="1" smtClean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에스코어 드림 4 Regular" panose="020B0503030302020204" pitchFamily="34" charset="-127"/>
                        <a:cs typeface="Times New Roman" panose="02020603050405020304" pitchFamily="18" charset="0"/>
                      </a:rPr>
                      <m:t>⋅</m:t>
                    </m:r>
                    <m:sSub>
                      <m:sSubPr>
                        <m:ctrlPr>
                          <a:rPr lang="en-US" altLang="ko-KR" b="1" i="1" smtClean="0">
                            <a:ln>
                              <a:solidFill>
                                <a:schemeClr val="tx1">
                                  <a:alpha val="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에스코어 드림 4 Regular" panose="020B0503030302020204" pitchFamily="34" charset="-127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b="1" i="1" smtClean="0">
                            <a:ln>
                              <a:solidFill>
                                <a:schemeClr val="tx1">
                                  <a:alpha val="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에스코어 드림 4 Regular" panose="020B0503030302020204" pitchFamily="34" charset="-127"/>
                            <a:cs typeface="Times New Roman" panose="02020603050405020304" pitchFamily="18" charset="0"/>
                          </a:rPr>
                          <m:t>𝒂</m:t>
                        </m:r>
                      </m:e>
                      <m:sub>
                        <m:r>
                          <a:rPr lang="en-US" altLang="ko-KR" b="1" i="1" smtClean="0">
                            <a:ln>
                              <a:solidFill>
                                <a:schemeClr val="tx1">
                                  <a:alpha val="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에스코어 드림 4 Regular" panose="020B0503030302020204" pitchFamily="34" charset="-127"/>
                            <a:cs typeface="Times New Roman" panose="02020603050405020304" pitchFamily="18" charset="0"/>
                          </a:rPr>
                          <m:t>𝒊</m:t>
                        </m:r>
                        <m:r>
                          <a:rPr lang="en-US" altLang="ko-KR" b="1" i="1" smtClean="0">
                            <a:ln>
                              <a:solidFill>
                                <a:schemeClr val="tx1">
                                  <a:alpha val="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에스코어 드림 4 Regular" panose="020B0503030302020204" pitchFamily="34" charset="-127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altLang="ko-KR" b="1" i="1" smtClean="0">
                            <a:ln>
                              <a:solidFill>
                                <a:schemeClr val="tx1">
                                  <a:alpha val="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에스코어 드림 4 Regular" panose="020B0503030302020204" pitchFamily="34" charset="-127"/>
                            <a:cs typeface="Times New Roman" panose="02020603050405020304" pitchFamily="18" charset="0"/>
                          </a:rPr>
                          <m:t>𝒋</m:t>
                        </m:r>
                      </m:sub>
                    </m:sSub>
                    <m:d>
                      <m:dPr>
                        <m:ctrlPr>
                          <a:rPr lang="en-US" altLang="ko-KR" b="1" i="1" smtClean="0">
                            <a:ln>
                              <a:solidFill>
                                <a:schemeClr val="tx1">
                                  <a:alpha val="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에스코어 드림 4 Regular" panose="020B0503030302020204" pitchFamily="34" charset="-127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ko-KR" b="1" i="1" smtClean="0">
                            <a:ln>
                              <a:solidFill>
                                <a:schemeClr val="tx1">
                                  <a:alpha val="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에스코어 드림 4 Regular" panose="020B0503030302020204" pitchFamily="34" charset="-127"/>
                            <a:cs typeface="Times New Roman" panose="02020603050405020304" pitchFamily="18" charset="0"/>
                          </a:rPr>
                          <m:t>𝑿</m:t>
                        </m:r>
                      </m:e>
                    </m:d>
                    <m:r>
                      <a:rPr lang="en-US" altLang="ko-KR" b="1" i="1" smtClean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에스코어 드림 4 Regular" panose="020B0503030302020204" pitchFamily="34" charset="-127"/>
                        <a:cs typeface="Times New Roman" panose="02020603050405020304" pitchFamily="18" charset="0"/>
                      </a:rPr>
                      <m:t>, (</m:t>
                    </m:r>
                    <m:r>
                      <a:rPr lang="en-US" altLang="ko-KR" b="1" i="1" smtClean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에스코어 드림 4 Regular" panose="020B0503030302020204" pitchFamily="34" charset="-127"/>
                        <a:cs typeface="Times New Roman" panose="02020603050405020304" pitchFamily="18" charset="0"/>
                      </a:rPr>
                      <m:t>𝒊</m:t>
                    </m:r>
                    <m:r>
                      <a:rPr lang="en-US" altLang="ko-KR" b="1" i="1" smtClean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≥</m:t>
                    </m:r>
                    <m:r>
                      <a:rPr lang="en-US" altLang="ko-KR" b="1" i="1" smtClean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𝒕</m:t>
                    </m:r>
                    <m:r>
                      <a:rPr lang="en-US" altLang="ko-KR" b="1" i="1" smtClean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에스코어 드림 4 Regular" panose="020B0503030302020204" pitchFamily="34" charset="-127"/>
                        <a:cs typeface="Times New Roman" panose="02020603050405020304" pitchFamily="18" charset="0"/>
                      </a:rPr>
                      <m:t>)</m:t>
                    </m:r>
                    <m:r>
                      <a:rPr lang="ko-KR" altLang="en-US" b="1" i="1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에스코어 드림 4 Regular" panose="020B0503030302020204" pitchFamily="34" charset="-127"/>
                        <a:cs typeface="Times New Roman" panose="02020603050405020304" pitchFamily="18" charset="0"/>
                      </a:rPr>
                      <m:t>로</m:t>
                    </m:r>
                  </m:oMath>
                </a14:m>
                <a:r>
                  <a:rPr lang="en-US" altLang="ko-KR" b="1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에스코어 드림 4 Regular" panose="020B0503030302020204" pitchFamily="34" charset="-127"/>
                    <a:cs typeface="Times New Roman" panose="02020603050405020304" pitchFamily="18" charset="0"/>
                  </a:rPr>
                  <a:t> </a:t>
                </a:r>
                <a:r>
                  <a:rPr lang="ko-KR" altLang="en-US" b="1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에스코어 드림 4 Regular" panose="020B0503030302020204" pitchFamily="34" charset="-127"/>
                    <a:cs typeface="Times New Roman" panose="02020603050405020304" pitchFamily="18" charset="0"/>
                  </a:rPr>
                  <a:t>표현되는 재귀기반 집합 </a:t>
                </a:r>
                <a:r>
                  <a:rPr lang="en-US" altLang="ko-KR" b="1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에스코어 드림 4 Regular" panose="020B0503030302020204" pitchFamily="34" charset="-127"/>
                    <a:cs typeface="Times New Roman" panose="02020603050405020304" pitchFamily="18" charset="0"/>
                  </a:rPr>
                  <a:t>Matrix</a:t>
                </a:r>
              </a:p>
              <a:p>
                <a:pPr lvl="1"/>
                <a:endParaRPr lang="en-US" altLang="ko-KR" b="1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Times New Roman" panose="02020603050405020304" pitchFamily="18" charset="0"/>
                  <a:ea typeface="에스코어 드림 4 Regular" panose="020B0503030302020204" pitchFamily="34" charset="-127"/>
                  <a:cs typeface="Times New Roman" panose="02020603050405020304" pitchFamily="18" charset="0"/>
                </a:endParaRPr>
              </a:p>
              <a:p>
                <a:pPr marL="342900" lvl="1" indent="0">
                  <a:buNone/>
                </a:pPr>
                <a:endParaRPr lang="en-US" altLang="ko-KR" sz="125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Times New Roman" panose="02020603050405020304" pitchFamily="18" charset="0"/>
                  <a:ea typeface="에스코어 드림 4 Regular" panose="020B0503030302020204" pitchFamily="34" charset="-127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7" name="내용 개체 틀 2">
                <a:extLst>
                  <a:ext uri="{FF2B5EF4-FFF2-40B4-BE49-F238E27FC236}">
                    <a16:creationId xmlns:a16="http://schemas.microsoft.com/office/drawing/2014/main" id="{68BA0B5C-8F54-E829-9139-380795B90F5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2400" y="951551"/>
                <a:ext cx="6477000" cy="3753799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420CC55-559C-0398-6E72-F3B7F61D45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4</a:t>
            </a:fld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2E29982-B0C5-F114-0564-5ACC0C2D36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624" y="3765412"/>
            <a:ext cx="6698235" cy="701663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AA76F53D-DF46-5A21-DCA7-2D317AE7BA5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0873" y="3257550"/>
            <a:ext cx="6056254" cy="507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42425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DCD331-EE65-931E-8A67-5317BD1B82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After </a:t>
            </a:r>
            <a:r>
              <a:rPr lang="en-US" altLang="ko-KR" dirty="0" err="1"/>
              <a:t>HiPPO</a:t>
            </a:r>
            <a:endParaRPr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11B2916D-D1F2-8854-63CF-B4E449D33C8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ko-KR" altLang="en-US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에스코어 드림 4 Regular" panose="020B0503030302020204" pitchFamily="34" charset="-127"/>
                    <a:cs typeface="Times New Roman" panose="02020603050405020304" pitchFamily="18" charset="0"/>
                  </a:rPr>
                  <a:t>이제 </a:t>
                </a:r>
                <a:r>
                  <a:rPr lang="en-US" altLang="ko-KR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에스코어 드림 4 Regular" panose="020B0503030302020204" pitchFamily="34" charset="-127"/>
                    <a:cs typeface="Times New Roman" panose="02020603050405020304" pitchFamily="18" charset="0"/>
                  </a:rPr>
                  <a:t>LRW </a:t>
                </a:r>
                <a:r>
                  <a:rPr lang="ko-KR" altLang="en-US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에스코어 드림 4 Regular" panose="020B0503030302020204" pitchFamily="34" charset="-127"/>
                    <a:cs typeface="Times New Roman" panose="02020603050405020304" pitchFamily="18" charset="0"/>
                  </a:rPr>
                  <a:t>구조를 유지하게 </a:t>
                </a:r>
                <a:r>
                  <a:rPr lang="en-US" altLang="ko-KR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에스코어 드림 4 Regular" panose="020B0503030302020204" pitchFamily="34" charset="-127"/>
                    <a:cs typeface="Times New Roman" panose="02020603050405020304" pitchFamily="18" charset="0"/>
                  </a:rPr>
                  <a:t>A Matrix</a:t>
                </a:r>
                <a:r>
                  <a:rPr lang="ko-KR" altLang="en-US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에스코어 드림 4 Regular" panose="020B0503030302020204" pitchFamily="34" charset="-127"/>
                    <a:cs typeface="Times New Roman" panose="02020603050405020304" pitchFamily="18" charset="0"/>
                  </a:rPr>
                  <a:t>를 유지한 상태에서 이러한 </a:t>
                </a:r>
                <a:r>
                  <a:rPr lang="en-US" altLang="ko-KR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에스코어 드림 4 Regular" panose="020B0503030302020204" pitchFamily="34" charset="-127"/>
                    <a:cs typeface="Times New Roman" panose="02020603050405020304" pitchFamily="18" charset="0"/>
                  </a:rPr>
                  <a:t>Online Approximation</a:t>
                </a:r>
                <a:r>
                  <a:rPr lang="ko-KR" altLang="en-US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에스코어 드림 4 Regular" panose="020B0503030302020204" pitchFamily="34" charset="-127"/>
                    <a:cs typeface="Times New Roman" panose="02020603050405020304" pitchFamily="18" charset="0"/>
                  </a:rPr>
                  <a:t>을 학습 구조로 만들고 모델링을 해보자</a:t>
                </a:r>
                <a:r>
                  <a:rPr lang="en-US" altLang="ko-KR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에스코어 드림 4 Regular" panose="020B0503030302020204" pitchFamily="34" charset="-127"/>
                    <a:cs typeface="Times New Roman" panose="02020603050405020304" pitchFamily="18" charset="0"/>
                  </a:rPr>
                  <a:t>!! (SSM</a:t>
                </a:r>
                <a:r>
                  <a:rPr lang="ko-KR" altLang="en-US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에스코어 드림 4 Regular" panose="020B0503030302020204" pitchFamily="34" charset="-127"/>
                    <a:cs typeface="Times New Roman" panose="02020603050405020304" pitchFamily="18" charset="0"/>
                  </a:rPr>
                  <a:t> 의 시작</a:t>
                </a:r>
                <a:r>
                  <a:rPr lang="en-US" altLang="ko-KR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에스코어 드림 4 Regular" panose="020B0503030302020204" pitchFamily="34" charset="-127"/>
                    <a:cs typeface="Times New Roman" panose="02020603050405020304" pitchFamily="18" charset="0"/>
                  </a:rPr>
                  <a:t>)</a:t>
                </a:r>
              </a:p>
              <a:p>
                <a:pPr lvl="1"/>
                <a:r>
                  <a:rPr lang="en-US" altLang="ko-KR" dirty="0"/>
                  <a:t>LSSL </a:t>
                </a:r>
                <a:r>
                  <a:rPr lang="en-US" altLang="ko-KR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rgbClr val="0070C0"/>
                    </a:solidFill>
                    <a:latin typeface="Times New Roman" panose="02020603050405020304" pitchFamily="18" charset="0"/>
                    <a:ea typeface="에스코어 드림 4 Regular" panose="020B0503030302020204" pitchFamily="34" charset="-127"/>
                    <a:cs typeface="Times New Roman" panose="02020603050405020304" pitchFamily="18" charset="0"/>
                  </a:rPr>
                  <a:t>(2021, </a:t>
                </a:r>
                <a:r>
                  <a:rPr lang="en-US" altLang="ko-KR" dirty="0" err="1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rgbClr val="0070C0"/>
                    </a:solidFill>
                    <a:latin typeface="Times New Roman" panose="02020603050405020304" pitchFamily="18" charset="0"/>
                    <a:ea typeface="에스코어 드림 4 Regular" panose="020B0503030302020204" pitchFamily="34" charset="-127"/>
                    <a:cs typeface="Times New Roman" panose="02020603050405020304" pitchFamily="18" charset="0"/>
                  </a:rPr>
                  <a:t>NeurIPS</a:t>
                </a:r>
                <a:r>
                  <a:rPr lang="en-US" altLang="ko-KR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rgbClr val="0070C0"/>
                    </a:solidFill>
                    <a:latin typeface="Times New Roman" panose="02020603050405020304" pitchFamily="18" charset="0"/>
                    <a:ea typeface="에스코어 드림 4 Regular" panose="020B0503030302020204" pitchFamily="34" charset="-127"/>
                    <a:cs typeface="Times New Roman" panose="02020603050405020304" pitchFamily="18" charset="0"/>
                  </a:rPr>
                  <a:t>, Gu, Albert et al</a:t>
                </a:r>
                <a:r>
                  <a:rPr lang="en-US" altLang="ko-KR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에스코어 드림 4 Regular" panose="020B0503030302020204" pitchFamily="34" charset="-127"/>
                    <a:cs typeface="Times New Roman" panose="02020603050405020304" pitchFamily="18" charset="0"/>
                  </a:rPr>
                  <a:t>.) : </a:t>
                </a:r>
                <a:r>
                  <a:rPr lang="ko-KR" altLang="en-US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에스코어 드림 4 Regular" panose="020B0503030302020204" pitchFamily="34" charset="-127"/>
                    <a:cs typeface="Times New Roman" panose="02020603050405020304" pitchFamily="18" charset="0"/>
                  </a:rPr>
                  <a:t>그냥 초기화만 </a:t>
                </a:r>
                <a:r>
                  <a:rPr lang="en-US" altLang="ko-KR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에스코어 드림 4 Regular" panose="020B0503030302020204" pitchFamily="34" charset="-127"/>
                    <a:cs typeface="Times New Roman" panose="02020603050405020304" pitchFamily="18" charset="0"/>
                  </a:rPr>
                  <a:t>A Matrix</a:t>
                </a:r>
                <a:r>
                  <a:rPr lang="ko-KR" altLang="en-US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에스코어 드림 4 Regular" panose="020B0503030302020204" pitchFamily="34" charset="-127"/>
                    <a:cs typeface="Times New Roman" panose="02020603050405020304" pitchFamily="18" charset="0"/>
                  </a:rPr>
                  <a:t>로 하면 되는 거 아니야</a:t>
                </a:r>
                <a:r>
                  <a:rPr lang="en-US" altLang="ko-KR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에스코어 드림 4 Regular" panose="020B0503030302020204" pitchFamily="34" charset="-127"/>
                    <a:cs typeface="Times New Roman" panose="02020603050405020304" pitchFamily="18" charset="0"/>
                  </a:rPr>
                  <a:t>?</a:t>
                </a:r>
              </a:p>
              <a:p>
                <a:pPr lvl="1"/>
                <a:r>
                  <a:rPr lang="en-US" altLang="ko-KR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에스코어 드림 4 Regular" panose="020B0503030302020204" pitchFamily="34" charset="-127"/>
                    <a:cs typeface="Times New Roman" panose="02020603050405020304" pitchFamily="18" charset="0"/>
                  </a:rPr>
                  <a:t>S4</a:t>
                </a:r>
                <a:r>
                  <a:rPr lang="en-US" altLang="ko-KR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rgbClr val="0070C0"/>
                    </a:solidFill>
                    <a:latin typeface="Times New Roman" panose="02020603050405020304" pitchFamily="18" charset="0"/>
                    <a:ea typeface="에스코어 드림 4 Regular" panose="020B0503030302020204" pitchFamily="34" charset="-127"/>
                    <a:cs typeface="Times New Roman" panose="02020603050405020304" pitchFamily="18" charset="0"/>
                  </a:rPr>
                  <a:t>(2022, </a:t>
                </a:r>
                <a:r>
                  <a:rPr lang="en-US" altLang="ko-KR" dirty="0" err="1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rgbClr val="0070C0"/>
                    </a:solidFill>
                    <a:latin typeface="Times New Roman" panose="02020603050405020304" pitchFamily="18" charset="0"/>
                    <a:ea typeface="에스코어 드림 4 Regular" panose="020B0503030302020204" pitchFamily="34" charset="-127"/>
                    <a:cs typeface="Times New Roman" panose="02020603050405020304" pitchFamily="18" charset="0"/>
                  </a:rPr>
                  <a:t>NeurIPS</a:t>
                </a:r>
                <a:r>
                  <a:rPr lang="en-US" altLang="ko-KR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rgbClr val="0070C0"/>
                    </a:solidFill>
                    <a:latin typeface="Times New Roman" panose="02020603050405020304" pitchFamily="18" charset="0"/>
                    <a:ea typeface="에스코어 드림 4 Regular" panose="020B0503030302020204" pitchFamily="34" charset="-127"/>
                    <a:cs typeface="Times New Roman" panose="02020603050405020304" pitchFamily="18" charset="0"/>
                  </a:rPr>
                  <a:t>, Gu, Albert et al.)</a:t>
                </a:r>
                <a:r>
                  <a:rPr lang="en-US" altLang="ko-KR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에스코어 드림 4 Regular" panose="020B0503030302020204" pitchFamily="34" charset="-127"/>
                    <a:cs typeface="Times New Roman" panose="02020603050405020304" pitchFamily="18" charset="0"/>
                  </a:rPr>
                  <a:t> : LRW </a:t>
                </a:r>
                <a:r>
                  <a:rPr lang="ko-KR" altLang="en-US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에스코어 드림 4 Regular" panose="020B0503030302020204" pitchFamily="34" charset="-127"/>
                    <a:cs typeface="Times New Roman" panose="02020603050405020304" pitchFamily="18" charset="0"/>
                  </a:rPr>
                  <a:t>구조면 </a:t>
                </a:r>
                <a:r>
                  <a:rPr lang="ko-KR" altLang="en-US" dirty="0" err="1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에스코어 드림 4 Regular" panose="020B0503030302020204" pitchFamily="34" charset="-127"/>
                    <a:cs typeface="Times New Roman" panose="02020603050405020304" pitchFamily="18" charset="0"/>
                  </a:rPr>
                  <a:t>어짜피</a:t>
                </a:r>
                <a:r>
                  <a:rPr lang="ko-KR" altLang="en-US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에스코어 드림 4 Regular" panose="020B0503030302020204" pitchFamily="34" charset="-127"/>
                    <a:cs typeface="Times New Roman" panose="02020603050405020304" pitchFamily="18" charset="0"/>
                  </a:rPr>
                  <a:t> 밑에 차원은 </a:t>
                </a:r>
                <a:r>
                  <a:rPr lang="en-US" altLang="ko-KR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에스코어 드림 4 Regular" panose="020B0503030302020204" pitchFamily="34" charset="-127"/>
                    <a:cs typeface="Times New Roman" panose="02020603050405020304" pitchFamily="18" charset="0"/>
                  </a:rPr>
                  <a:t>Low Rank</a:t>
                </a:r>
                <a:r>
                  <a:rPr lang="ko-KR" altLang="en-US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에스코어 드림 4 Regular" panose="020B0503030302020204" pitchFamily="34" charset="-127"/>
                    <a:cs typeface="Times New Roman" panose="02020603050405020304" pitchFamily="18" charset="0"/>
                  </a:rPr>
                  <a:t>이니</a:t>
                </a:r>
                <a:r>
                  <a:rPr lang="en-US" altLang="ko-KR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에스코어 드림 4 Regular" panose="020B0503030302020204" pitchFamily="34" charset="-127"/>
                    <a:cs typeface="Times New Roman" panose="02020603050405020304" pitchFamily="18" charset="0"/>
                  </a:rPr>
                  <a:t>, </a:t>
                </a:r>
                <a:r>
                  <a:rPr lang="ko-KR" altLang="en-US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에스코어 드림 4 Regular" panose="020B0503030302020204" pitchFamily="34" charset="-127"/>
                    <a:cs typeface="Times New Roman" panose="02020603050405020304" pitchFamily="18" charset="0"/>
                  </a:rPr>
                  <a:t>이를 </a:t>
                </a:r>
                <a:r>
                  <a:rPr lang="en-US" altLang="ko-KR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에스코어 드림 4 Regular" panose="020B0503030302020204" pitchFamily="34" charset="-127"/>
                    <a:cs typeface="Times New Roman" panose="02020603050405020304" pitchFamily="18" charset="0"/>
                  </a:rPr>
                  <a:t>DPLR(Diagonal + Low-Rank) </a:t>
                </a:r>
                <a:r>
                  <a:rPr lang="ko-KR" altLang="en-US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에스코어 드림 4 Regular" panose="020B0503030302020204" pitchFamily="34" charset="-127"/>
                    <a:cs typeface="Times New Roman" panose="02020603050405020304" pitchFamily="18" charset="0"/>
                  </a:rPr>
                  <a:t>구조로 </a:t>
                </a:r>
                <a:r>
                  <a:rPr lang="en-US" altLang="ko-KR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에스코어 드림 4 Regular" panose="020B0503030302020204" pitchFamily="34" charset="-127"/>
                    <a:cs typeface="Times New Roman" panose="02020603050405020304" pitchFamily="18" charset="0"/>
                  </a:rPr>
                  <a:t>A matrix</a:t>
                </a:r>
                <a:r>
                  <a:rPr lang="ko-KR" altLang="en-US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에스코어 드림 4 Regular" panose="020B0503030302020204" pitchFamily="34" charset="-127"/>
                    <a:cs typeface="Times New Roman" panose="02020603050405020304" pitchFamily="18" charset="0"/>
                  </a:rPr>
                  <a:t>를 제약을 주고 학습하자</a:t>
                </a:r>
                <a:r>
                  <a:rPr lang="en-US" altLang="ko-KR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에스코어 드림 4 Regular" panose="020B0503030302020204" pitchFamily="34" charset="-127"/>
                    <a:cs typeface="Times New Roman" panose="02020603050405020304" pitchFamily="18" charset="0"/>
                  </a:rPr>
                  <a:t>!</a:t>
                </a:r>
              </a:p>
              <a:p>
                <a:pPr lvl="1"/>
                <a:r>
                  <a:rPr lang="en-US" altLang="ko-KR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에스코어 드림 4 Regular" panose="020B0503030302020204" pitchFamily="34" charset="-127"/>
                    <a:cs typeface="Times New Roman" panose="02020603050405020304" pitchFamily="18" charset="0"/>
                  </a:rPr>
                  <a:t>S4D </a:t>
                </a:r>
                <a:r>
                  <a:rPr lang="en-US" altLang="ko-KR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rgbClr val="0070C0"/>
                    </a:solidFill>
                    <a:latin typeface="Times New Roman" panose="02020603050405020304" pitchFamily="18" charset="0"/>
                    <a:ea typeface="에스코어 드림 4 Regular" panose="020B0503030302020204" pitchFamily="34" charset="-127"/>
                    <a:cs typeface="Times New Roman" panose="02020603050405020304" pitchFamily="18" charset="0"/>
                  </a:rPr>
                  <a:t>(2022, </a:t>
                </a:r>
                <a:r>
                  <a:rPr lang="en-US" altLang="ko-KR" dirty="0" err="1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rgbClr val="0070C0"/>
                    </a:solidFill>
                    <a:latin typeface="Times New Roman" panose="02020603050405020304" pitchFamily="18" charset="0"/>
                    <a:ea typeface="에스코어 드림 4 Regular" panose="020B0503030302020204" pitchFamily="34" charset="-127"/>
                    <a:cs typeface="Times New Roman" panose="02020603050405020304" pitchFamily="18" charset="0"/>
                  </a:rPr>
                  <a:t>NeurIPS</a:t>
                </a:r>
                <a:r>
                  <a:rPr lang="en-US" altLang="ko-KR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rgbClr val="0070C0"/>
                    </a:solidFill>
                    <a:latin typeface="Times New Roman" panose="02020603050405020304" pitchFamily="18" charset="0"/>
                    <a:ea typeface="에스코어 드림 4 Regular" panose="020B0503030302020204" pitchFamily="34" charset="-127"/>
                    <a:cs typeface="Times New Roman" panose="02020603050405020304" pitchFamily="18" charset="0"/>
                  </a:rPr>
                  <a:t>, Gu el al)</a:t>
                </a:r>
                <a:r>
                  <a:rPr lang="en-US" altLang="ko-KR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에스코어 드림 4 Regular" panose="020B0503030302020204" pitchFamily="34" charset="-127"/>
                    <a:cs typeface="Times New Roman" panose="02020603050405020304" pitchFamily="18" charset="0"/>
                  </a:rPr>
                  <a:t>: A Matrix</a:t>
                </a:r>
                <a:r>
                  <a:rPr lang="ko-KR" altLang="en-US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에스코어 드림 4 Regular" panose="020B0503030302020204" pitchFamily="34" charset="-127"/>
                    <a:cs typeface="Times New Roman" panose="02020603050405020304" pitchFamily="18" charset="0"/>
                  </a:rPr>
                  <a:t>는 </a:t>
                </a:r>
                <a:r>
                  <a:rPr lang="en-US" altLang="ko-KR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에스코어 드림 4 Regular" panose="020B0503030302020204" pitchFamily="34" charset="-127"/>
                    <a:cs typeface="Times New Roman" panose="02020603050405020304" pitchFamily="18" charset="0"/>
                  </a:rPr>
                  <a:t>Diagonal</a:t>
                </a:r>
                <a:r>
                  <a:rPr lang="ko-KR" altLang="en-US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에스코어 드림 4 Regular" panose="020B0503030302020204" pitchFamily="34" charset="-127"/>
                    <a:cs typeface="Times New Roman" panose="02020603050405020304" pitchFamily="18" charset="0"/>
                  </a:rPr>
                  <a:t> 정보만 넣어도 </a:t>
                </a:r>
                <a:r>
                  <a:rPr lang="en-US" altLang="ko-KR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에스코어 드림 4 Regular" panose="020B0503030302020204" pitchFamily="34" charset="-127"/>
                    <a:cs typeface="Times New Roman" panose="02020603050405020304" pitchFamily="18" charset="0"/>
                  </a:rPr>
                  <a:t>LRW</a:t>
                </a:r>
                <a:r>
                  <a:rPr lang="ko-KR" altLang="en-US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에스코어 드림 4 Regular" panose="020B0503030302020204" pitchFamily="34" charset="-127"/>
                    <a:cs typeface="Times New Roman" panose="02020603050405020304" pitchFamily="18" charset="0"/>
                  </a:rPr>
                  <a:t>이고 또 학습이 잘된다</a:t>
                </a:r>
                <a:r>
                  <a:rPr lang="en-US" altLang="ko-KR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에스코어 드림 4 Regular" panose="020B0503030302020204" pitchFamily="34" charset="-127"/>
                    <a:cs typeface="Times New Roman" panose="02020603050405020304" pitchFamily="18" charset="0"/>
                  </a:rPr>
                  <a:t>! </a:t>
                </a:r>
              </a:p>
              <a:p>
                <a:pPr lvl="1"/>
                <a:r>
                  <a:rPr lang="en-US" altLang="ko-KR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에스코어 드림 4 Regular" panose="020B0503030302020204" pitchFamily="34" charset="-127"/>
                    <a:cs typeface="Times New Roman" panose="02020603050405020304" pitchFamily="18" charset="0"/>
                  </a:rPr>
                  <a:t>Mamba </a:t>
                </a:r>
                <a:r>
                  <a:rPr lang="en-US" altLang="ko-KR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rgbClr val="0070C0"/>
                    </a:solidFill>
                    <a:latin typeface="Times New Roman" panose="02020603050405020304" pitchFamily="18" charset="0"/>
                    <a:ea typeface="에스코어 드림 4 Regular" panose="020B0503030302020204" pitchFamily="34" charset="-127"/>
                    <a:cs typeface="Times New Roman" panose="02020603050405020304" pitchFamily="18" charset="0"/>
                  </a:rPr>
                  <a:t>(2024, COLM, Gu, Albert et al.) </a:t>
                </a:r>
                <a:r>
                  <a:rPr lang="en-US" altLang="ko-KR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에스코어 드림 4 Regular" panose="020B0503030302020204" pitchFamily="34" charset="-127"/>
                    <a:cs typeface="Times New Roman" panose="02020603050405020304" pitchFamily="18" charset="0"/>
                  </a:rPr>
                  <a:t>: A Matrix</a:t>
                </a:r>
                <a:r>
                  <a:rPr lang="ko-KR" altLang="en-US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에스코어 드림 4 Regular" panose="020B0503030302020204" pitchFamily="34" charset="-127"/>
                    <a:cs typeface="Times New Roman" panose="02020603050405020304" pitchFamily="18" charset="0"/>
                  </a:rPr>
                  <a:t>를 </a:t>
                </a:r>
                <a:r>
                  <a:rPr lang="en-US" altLang="ko-KR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에스코어 드림 4 Regular" panose="020B0503030302020204" pitchFamily="34" charset="-127"/>
                    <a:cs typeface="Times New Roman" panose="02020603050405020304" pitchFamily="18" charset="0"/>
                  </a:rPr>
                  <a:t>Time-Dependent</a:t>
                </a:r>
                <a:r>
                  <a:rPr lang="ko-KR" altLang="en-US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에스코어 드림 4 Regular" panose="020B0503030302020204" pitchFamily="34" charset="-127"/>
                    <a:cs typeface="Times New Roman" panose="02020603050405020304" pitchFamily="18" charset="0"/>
                  </a:rPr>
                  <a:t>하게 </a:t>
                </a:r>
                <a:r>
                  <a:rPr lang="en-US" altLang="ko-KR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에스코어 드림 4 Regular" panose="020B0503030302020204" pitchFamily="34" charset="-127"/>
                    <a:cs typeface="Times New Roman" panose="02020603050405020304" pitchFamily="18" charset="0"/>
                  </a:rPr>
                  <a:t>x</a:t>
                </a:r>
                <a:r>
                  <a:rPr lang="ko-KR" altLang="en-US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에스코어 드림 4 Regular" panose="020B0503030302020204" pitchFamily="34" charset="-127"/>
                    <a:cs typeface="Times New Roman" panose="02020603050405020304" pitchFamily="18" charset="0"/>
                  </a:rPr>
                  <a:t>값을 넣어서 관리하자</a:t>
                </a:r>
                <a:r>
                  <a:rPr lang="en-US" altLang="ko-KR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에스코어 드림 4 Regular" panose="020B0503030302020204" pitchFamily="34" charset="-127"/>
                    <a:cs typeface="Times New Roman" panose="02020603050405020304" pitchFamily="18" charset="0"/>
                  </a:rPr>
                  <a:t>!</a:t>
                </a:r>
              </a:p>
              <a:p>
                <a:pPr lvl="1"/>
                <a:r>
                  <a:rPr lang="en-US" altLang="ko-KR" dirty="0">
                    <a:solidFill>
                      <a:schemeClr val="tx1"/>
                    </a:solidFill>
                  </a:rPr>
                  <a:t>Mamba2 </a:t>
                </a:r>
                <a:r>
                  <a:rPr lang="en-US" altLang="ko-KR" dirty="0">
                    <a:solidFill>
                      <a:srgbClr val="0070C0"/>
                    </a:solidFill>
                  </a:rPr>
                  <a:t>(2024, ICML, Albert, Gu et al.)</a:t>
                </a:r>
                <a:r>
                  <a:rPr lang="en-US" altLang="ko-KR" dirty="0">
                    <a:solidFill>
                      <a:schemeClr val="tx1"/>
                    </a:solidFill>
                  </a:rPr>
                  <a:t>: A Matrix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를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altLang="ko-KR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𝑰</m:t>
                    </m:r>
                  </m:oMath>
                </a14:m>
                <a:r>
                  <a:rPr lang="ko-KR" altLang="en-US" b="1" dirty="0">
                    <a:solidFill>
                      <a:schemeClr val="tx1"/>
                    </a:solidFill>
                  </a:rPr>
                  <a:t> 로 더 </a:t>
                </a:r>
                <a:r>
                  <a:rPr lang="en-US" altLang="ko-KR" b="1" dirty="0">
                    <a:solidFill>
                      <a:schemeClr val="tx1"/>
                    </a:solidFill>
                  </a:rPr>
                  <a:t>Ideal </a:t>
                </a:r>
                <a:r>
                  <a:rPr lang="ko-KR" altLang="en-US" b="1" dirty="0">
                    <a:solidFill>
                      <a:schemeClr val="tx1"/>
                    </a:solidFill>
                  </a:rPr>
                  <a:t>하게 보고 </a:t>
                </a:r>
                <a:r>
                  <a:rPr lang="en-US" altLang="ko-KR" b="1" dirty="0">
                    <a:solidFill>
                      <a:schemeClr val="tx1"/>
                    </a:solidFill>
                  </a:rPr>
                  <a:t>kernel </a:t>
                </a:r>
                <a:r>
                  <a:rPr lang="ko-KR" altLang="en-US" b="1" dirty="0">
                    <a:solidFill>
                      <a:schemeClr val="tx1"/>
                    </a:solidFill>
                  </a:rPr>
                  <a:t>로서 관리하자</a:t>
                </a:r>
                <a:r>
                  <a:rPr lang="en-US" altLang="ko-KR" b="1" dirty="0">
                    <a:solidFill>
                      <a:schemeClr val="tx1"/>
                    </a:solidFill>
                  </a:rPr>
                  <a:t>!</a:t>
                </a:r>
                <a:endParaRPr lang="ko-KR" altLang="en-US" b="1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11B2916D-D1F2-8854-63CF-B4E449D33C8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90BDDA2-8DD8-117B-6C5F-B604094410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5</a:t>
            </a:fld>
            <a:endParaRPr lang="ko-KR" alt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7289710A-09D8-CB48-AB67-6ECDB8A952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647950"/>
            <a:ext cx="5339911" cy="68580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F96CC568-E829-4553-37B4-5017508785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9200" y="3331464"/>
            <a:ext cx="4495800" cy="1715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27325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DED06F-B91F-B858-6486-A7728DF835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LONGHORN: STATE SPACE MODELS ARE AMORTIZED ONLINE LEARNERS </a:t>
            </a:r>
            <a:r>
              <a:rPr lang="en-US" altLang="ko-KR" dirty="0">
                <a:solidFill>
                  <a:srgbClr val="0070C0"/>
                </a:solidFill>
              </a:rPr>
              <a:t>(ICLR,</a:t>
            </a:r>
            <a:r>
              <a:rPr lang="ko-KR" altLang="en-US" dirty="0">
                <a:solidFill>
                  <a:srgbClr val="0070C0"/>
                </a:solidFill>
              </a:rPr>
              <a:t> </a:t>
            </a:r>
            <a:r>
              <a:rPr lang="en-US" altLang="ko-KR" dirty="0">
                <a:solidFill>
                  <a:srgbClr val="0070C0"/>
                </a:solidFill>
              </a:rPr>
              <a:t>2025,</a:t>
            </a:r>
            <a:r>
              <a:rPr lang="ko-KR" altLang="en-US" dirty="0">
                <a:solidFill>
                  <a:srgbClr val="0070C0"/>
                </a:solidFill>
              </a:rPr>
              <a:t> </a:t>
            </a:r>
            <a:r>
              <a:rPr lang="en-US" altLang="ko-KR" dirty="0">
                <a:solidFill>
                  <a:srgbClr val="0070C0"/>
                </a:solidFill>
              </a:rPr>
              <a:t>Liu et al.)</a:t>
            </a:r>
            <a:endParaRPr lang="ko-KR" altLang="en-US" dirty="0">
              <a:solidFill>
                <a:srgbClr val="0070C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D75A4637-B6A7-6F73-BBB4-BDE35C8BCE1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ko-KR" b="1" dirty="0">
                    <a:solidFill>
                      <a:schemeClr val="tx1"/>
                    </a:solidFill>
                  </a:rPr>
                  <a:t>AN ONLINE LEARNING PERSPECTIVE FOR SEQUENCE MIXING</a:t>
                </a:r>
              </a:p>
              <a:p>
                <a:pPr lvl="1"/>
                <a:r>
                  <a:rPr lang="en-US" altLang="ko-KR" b="1" dirty="0">
                    <a:solidFill>
                      <a:schemeClr val="tx1"/>
                    </a:solidFill>
                  </a:rPr>
                  <a:t>Mamba2 </a:t>
                </a:r>
                <a:r>
                  <a:rPr lang="ko-KR" altLang="en-US" b="1" dirty="0">
                    <a:solidFill>
                      <a:schemeClr val="tx1"/>
                    </a:solidFill>
                  </a:rPr>
                  <a:t>까지는 </a:t>
                </a:r>
                <a:r>
                  <a:rPr lang="en-US" altLang="ko-KR" b="1" dirty="0">
                    <a:solidFill>
                      <a:schemeClr val="tx1"/>
                    </a:solidFill>
                  </a:rPr>
                  <a:t>Next State</a:t>
                </a:r>
                <a:r>
                  <a:rPr lang="ko-KR" altLang="en-US" b="1" dirty="0">
                    <a:solidFill>
                      <a:schemeClr val="tx1"/>
                    </a:solidFill>
                  </a:rPr>
                  <a:t>를 업데이트하는 문제를 </a:t>
                </a:r>
                <a:r>
                  <a:rPr lang="en-US" altLang="ko-KR" b="1" dirty="0">
                    <a:solidFill>
                      <a:schemeClr val="tx1"/>
                    </a:solidFill>
                  </a:rPr>
                  <a:t>Online Approximation </a:t>
                </a:r>
                <a:r>
                  <a:rPr lang="ko-KR" altLang="en-US" b="1" dirty="0">
                    <a:solidFill>
                      <a:schemeClr val="tx1"/>
                    </a:solidFill>
                  </a:rPr>
                  <a:t>과 </a:t>
                </a:r>
                <a:r>
                  <a:rPr lang="en-US" altLang="ko-KR" b="1" dirty="0">
                    <a:solidFill>
                      <a:schemeClr val="tx1"/>
                    </a:solidFill>
                  </a:rPr>
                  <a:t>LRW </a:t>
                </a:r>
                <a:r>
                  <a:rPr lang="ko-KR" altLang="en-US" b="1" dirty="0">
                    <a:solidFill>
                      <a:schemeClr val="tx1"/>
                    </a:solidFill>
                  </a:rPr>
                  <a:t>를 활용해서 정의를 했다면</a:t>
                </a:r>
                <a:r>
                  <a:rPr lang="en-US" altLang="ko-KR" b="1" dirty="0">
                    <a:solidFill>
                      <a:schemeClr val="tx1"/>
                    </a:solidFill>
                  </a:rPr>
                  <a:t>, Longhorn</a:t>
                </a:r>
                <a:r>
                  <a:rPr lang="ko-KR" altLang="en-US" b="1" dirty="0">
                    <a:solidFill>
                      <a:schemeClr val="tx1"/>
                    </a:solidFill>
                  </a:rPr>
                  <a:t>에서는 이를 일반화 하여 </a:t>
                </a:r>
                <a:r>
                  <a:rPr lang="en-US" altLang="ko-KR" b="1" dirty="0">
                    <a:solidFill>
                      <a:srgbClr val="FF0000"/>
                    </a:solidFill>
                  </a:rPr>
                  <a:t>Online Convex Programming</a:t>
                </a:r>
                <a:r>
                  <a:rPr lang="en-US" altLang="ko-KR" b="1" dirty="0">
                    <a:solidFill>
                      <a:srgbClr val="558ED5"/>
                    </a:solidFill>
                  </a:rPr>
                  <a:t>(2003, ICML, Zinkevich)</a:t>
                </a:r>
                <a:r>
                  <a:rPr lang="en-US" altLang="ko-KR" b="1" dirty="0">
                    <a:solidFill>
                      <a:schemeClr val="tx1"/>
                    </a:solidFill>
                  </a:rPr>
                  <a:t> </a:t>
                </a:r>
                <a:r>
                  <a:rPr lang="ko-KR" altLang="en-US" b="1" dirty="0">
                    <a:solidFill>
                      <a:schemeClr val="tx1"/>
                    </a:solidFill>
                  </a:rPr>
                  <a:t>문제로 변환을 해서 문제를 정의하기 시작함</a:t>
                </a:r>
                <a:r>
                  <a:rPr lang="en-US" altLang="ko-KR" b="1" dirty="0">
                    <a:solidFill>
                      <a:schemeClr val="tx1"/>
                    </a:solidFill>
                  </a:rPr>
                  <a:t>.</a:t>
                </a:r>
              </a:p>
              <a:p>
                <a:pPr marL="342900" lvl="1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sSubPr>
                          <m:ctrlPr>
                            <a:rPr lang="en-US" altLang="ko-KR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  <m:sub>
                          <m:r>
                            <a:rPr lang="en-US" altLang="ko-KR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</m:sub>
                      </m:sSub>
                      <m:r>
                        <a:rPr lang="en-US" altLang="ko-KR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ko-KR" altLang="en-US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ko-KR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ko-KR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lim>
                          </m:limLow>
                        </m:fName>
                        <m:e>
                          <m:sSub>
                            <m:sSubPr>
                              <m:ctrlP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𝑳</m:t>
                              </m:r>
                            </m:e>
                            <m:sub>
                              <m: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</m:sub>
                          </m:sSub>
                          <m:r>
                            <a:rPr lang="en-US" altLang="ko-KR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ko-KR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𝒔</m:t>
                          </m:r>
                          <m:r>
                            <a:rPr lang="en-US" altLang="ko-KR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  <m:r>
                        <a:rPr lang="en-US" altLang="ko-KR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altLang="ko-KR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𝑳</m:t>
                          </m:r>
                        </m:e>
                        <m:sub>
                          <m:r>
                            <a:rPr lang="en-US" altLang="ko-KR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</m:sub>
                      </m:sSub>
                      <m:d>
                        <m:dPr>
                          <m:ctrlPr>
                            <a:rPr lang="en-US" altLang="ko-KR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</m:d>
                      <m:r>
                        <a:rPr lang="en-US" altLang="ko-KR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𝑫</m:t>
                          </m:r>
                        </m:e>
                        <m:sub>
                          <m:r>
                            <a:rPr lang="en-US" altLang="ko-KR" b="1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𝚽</m:t>
                          </m:r>
                        </m:sub>
                      </m:sSub>
                      <m:d>
                        <m:dPr>
                          <m:ctrlPr>
                            <a:rPr lang="en-US" altLang="ko-KR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𝒔</m:t>
                          </m:r>
                          <m:r>
                            <a:rPr lang="en-US" altLang="ko-KR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  <m: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e>
                      </m:d>
                      <m:r>
                        <a:rPr lang="en-US" altLang="ko-KR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 </m:t>
                      </m:r>
                      <m:sSub>
                        <m:sSubPr>
                          <m:ctrlPr>
                            <a:rPr lang="en-US" altLang="ko-KR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𝜷</m:t>
                          </m:r>
                        </m:e>
                        <m:sub>
                          <m:r>
                            <a:rPr lang="en-US" altLang="ko-KR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</m:sub>
                      </m:sSub>
                      <m:sSub>
                        <m:sSubPr>
                          <m:ctrlPr>
                            <a:rPr lang="en-US" altLang="ko-KR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ℓ</m:t>
                          </m:r>
                        </m:e>
                        <m:sub>
                          <m:r>
                            <a:rPr lang="en-US" altLang="ko-KR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𝒕</m:t>
                          </m:r>
                        </m:sub>
                      </m:sSub>
                      <m:d>
                        <m:dPr>
                          <m:ctrlPr>
                            <a:rPr lang="en-US" altLang="ko-KR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𝒔</m:t>
                          </m:r>
                        </m:e>
                      </m:d>
                    </m:oMath>
                  </m:oMathPara>
                </a14:m>
                <a:endParaRPr lang="en-US" altLang="ko-KR" b="1" dirty="0">
                  <a:solidFill>
                    <a:schemeClr val="tx1"/>
                  </a:solidFill>
                </a:endParaRPr>
              </a:p>
              <a:p>
                <a:pPr marL="342900" lvl="1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𝑫</m:t>
                        </m:r>
                      </m:e>
                      <m:sub>
                        <m:r>
                          <a:rPr lang="en-US" altLang="ko-KR" b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𝚽</m:t>
                        </m:r>
                      </m:sub>
                    </m:sSub>
                    <m:d>
                      <m:dPr>
                        <m:ctrlPr>
                          <a:rPr lang="en-US" altLang="ko-KR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𝒔</m:t>
                        </m:r>
                        <m:r>
                          <a:rPr lang="en-US" altLang="ko-KR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𝒕</m:t>
                            </m:r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e>
                    </m:d>
                    <m:r>
                      <a:rPr lang="en-US" altLang="ko-KR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ko-KR" altLang="en-US" b="1" dirty="0">
                    <a:solidFill>
                      <a:schemeClr val="tx1"/>
                    </a:solidFill>
                  </a:rPr>
                  <a:t>는 과거의 상태 와의 차이를 최소화 시켜야 한다는 </a:t>
                </a:r>
                <a:r>
                  <a:rPr lang="ko-KR" altLang="en-US" b="1" dirty="0" err="1">
                    <a:solidFill>
                      <a:schemeClr val="tx1"/>
                    </a:solidFill>
                  </a:rPr>
                  <a:t>제약항</a:t>
                </a:r>
                <a:endParaRPr lang="en-US" altLang="ko-KR" b="1" dirty="0">
                  <a:solidFill>
                    <a:schemeClr val="tx1"/>
                  </a:solidFill>
                </a:endParaRPr>
              </a:p>
              <a:p>
                <a:pPr marL="342900" lvl="1" indent="0" algn="ctr">
                  <a:buNone/>
                </a:pPr>
                <a:r>
                  <a:rPr lang="ko-KR" altLang="en-US" b="1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ℓ</m:t>
                        </m:r>
                      </m:e>
                      <m:sub>
                        <m:r>
                          <a:rPr lang="en-US" altLang="ko-KR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𝒕</m:t>
                        </m:r>
                      </m:sub>
                    </m:sSub>
                    <m:d>
                      <m:dPr>
                        <m:ctrlPr>
                          <a:rPr lang="en-US" altLang="ko-KR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𝒔</m:t>
                        </m:r>
                      </m:e>
                    </m:d>
                  </m:oMath>
                </a14:m>
                <a:r>
                  <a:rPr lang="ko-KR" altLang="en-US" b="1" dirty="0">
                    <a:solidFill>
                      <a:schemeClr val="tx1"/>
                    </a:solidFill>
                  </a:rPr>
                  <a:t> 는 방금 들어온 데이터에 대한 예측 오류</a:t>
                </a:r>
                <a:endParaRPr lang="en-US" altLang="ko-KR" b="1" dirty="0">
                  <a:solidFill>
                    <a:schemeClr val="tx1"/>
                  </a:solidFill>
                </a:endParaRPr>
              </a:p>
              <a:p>
                <a:pPr lvl="1"/>
                <a:r>
                  <a:rPr lang="ko-KR" altLang="en-US" b="1" dirty="0">
                    <a:solidFill>
                      <a:schemeClr val="tx1"/>
                    </a:solidFill>
                  </a:rPr>
                  <a:t>예를 들어서 선형 회귀를 통해 데이터에 대해서 데이터를 업데이트를 하면서 선을 업데이트 한다고 하면</a:t>
                </a:r>
                <a:r>
                  <a:rPr lang="en-US" altLang="ko-KR" b="1" dirty="0">
                    <a:solidFill>
                      <a:schemeClr val="tx1"/>
                    </a:solidFill>
                  </a:rPr>
                  <a:t>,</a:t>
                </a:r>
              </a:p>
              <a:p>
                <a:pPr marL="342900" lvl="1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ko-KR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𝑫</m:t>
                          </m:r>
                        </m:e>
                        <m:sub>
                          <m:r>
                            <a:rPr lang="en-US" altLang="ko-KR" b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𝚽</m:t>
                          </m:r>
                        </m:sub>
                      </m:sSub>
                      <m:d>
                        <m:dPr>
                          <m:ctrlPr>
                            <a:rPr lang="en-US" altLang="ko-KR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𝒔</m:t>
                          </m:r>
                          <m:r>
                            <a:rPr lang="en-US" altLang="ko-KR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e>
                      </m:d>
                      <m:r>
                        <a:rPr lang="en-US" altLang="ko-KR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altLang="ko-KR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altLang="ko-KR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sSup>
                        <m:sSupPr>
                          <m:ctrlPr>
                            <a:rPr lang="en-US" altLang="ko-KR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  <m: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ko-KR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𝒔</m:t>
                                  </m:r>
                                </m:e>
                                <m:sub>
                                  <m:r>
                                    <a:rPr lang="en-US" altLang="ko-KR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𝒕</m:t>
                                  </m:r>
                                  <m:r>
                                    <a:rPr lang="en-US" altLang="ko-KR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ko-KR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altLang="ko-KR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altLang="ko-KR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ko-KR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ℓ</m:t>
                          </m:r>
                        </m:e>
                        <m:sub>
                          <m:r>
                            <a:rPr lang="en-US" altLang="ko-KR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𝒕</m:t>
                          </m:r>
                        </m:sub>
                      </m:sSub>
                      <m:d>
                        <m:dPr>
                          <m:ctrlPr>
                            <a:rPr lang="en-US" altLang="ko-KR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𝒔</m:t>
                          </m:r>
                        </m:e>
                      </m:d>
                      <m:r>
                        <a:rPr lang="en-US" altLang="ko-KR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altLang="ko-KR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sSup>
                        <m:sSupPr>
                          <m:ctrlPr>
                            <a:rPr lang="en-US" altLang="ko-KR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ko-KR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𝒔</m:t>
                                  </m:r>
                                </m:e>
                                <m:sup>
                                  <m:r>
                                    <a:rPr lang="en-US" altLang="ko-KR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sSub>
                                <m:sSubPr>
                                  <m:ctrlPr>
                                    <a:rPr lang="en-US" altLang="ko-KR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altLang="ko-KR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𝒕</m:t>
                                  </m:r>
                                </m:sub>
                              </m:sSub>
                              <m: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ko-KR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  <m:sub>
                                  <m:r>
                                    <a:rPr lang="en-US" altLang="ko-KR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𝒕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altLang="ko-KR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US" altLang="ko-KR" b="1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D75A4637-B6A7-6F73-BBB4-BDE35C8BCE1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16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E3D6612-2C8F-9EA3-C74E-5B1E163F54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6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5B3853BD-712A-50E1-0D50-A87B99582E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190051"/>
            <a:ext cx="5715000" cy="1547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07362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413DA9-B63F-48E2-65D5-C041D27D95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1AA8C7-1CD9-751B-4F38-2733297426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LONGHORN: STATE SPACE MODELS ARE AMORTIZED ONLINE LEARNERS </a:t>
            </a:r>
            <a:r>
              <a:rPr lang="en-US" altLang="ko-KR" dirty="0">
                <a:solidFill>
                  <a:srgbClr val="0070C0"/>
                </a:solidFill>
              </a:rPr>
              <a:t>(ICLR,</a:t>
            </a:r>
            <a:r>
              <a:rPr lang="ko-KR" altLang="en-US" dirty="0">
                <a:solidFill>
                  <a:srgbClr val="0070C0"/>
                </a:solidFill>
              </a:rPr>
              <a:t> </a:t>
            </a:r>
            <a:r>
              <a:rPr lang="en-US" altLang="ko-KR" dirty="0">
                <a:solidFill>
                  <a:srgbClr val="0070C0"/>
                </a:solidFill>
              </a:rPr>
              <a:t>2025,</a:t>
            </a:r>
            <a:r>
              <a:rPr lang="ko-KR" altLang="en-US" dirty="0">
                <a:solidFill>
                  <a:srgbClr val="0070C0"/>
                </a:solidFill>
              </a:rPr>
              <a:t> </a:t>
            </a:r>
            <a:r>
              <a:rPr lang="en-US" altLang="ko-KR" dirty="0">
                <a:solidFill>
                  <a:srgbClr val="0070C0"/>
                </a:solidFill>
              </a:rPr>
              <a:t>Liu et al.)</a:t>
            </a:r>
            <a:endParaRPr lang="ko-KR" altLang="en-US" dirty="0">
              <a:solidFill>
                <a:srgbClr val="0070C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F25966CC-1A05-94E6-8563-42276E6BCA6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ko-KR" b="1" dirty="0">
                    <a:solidFill>
                      <a:schemeClr val="tx1"/>
                    </a:solidFill>
                  </a:rPr>
                  <a:t>AN ONLINE LEARNING PERSPECTIVE FOR SEQUENCE MIXING</a:t>
                </a:r>
              </a:p>
              <a:p>
                <a:pPr lvl="1"/>
                <a:r>
                  <a:rPr lang="en-US" altLang="ko-KR" b="1" dirty="0">
                    <a:solidFill>
                      <a:schemeClr val="tx1"/>
                    </a:solidFill>
                  </a:rPr>
                  <a:t>Longhorn</a:t>
                </a:r>
                <a:r>
                  <a:rPr lang="ko-KR" altLang="en-US" b="1" dirty="0">
                    <a:solidFill>
                      <a:schemeClr val="tx1"/>
                    </a:solidFill>
                  </a:rPr>
                  <a:t>은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  <m:sub>
                        <m:r>
                          <a:rPr lang="en-US" altLang="ko-KR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</m:sub>
                    </m:sSub>
                    <m:r>
                      <a:rPr lang="en-US" altLang="ko-KR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altLang="ko-KR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ko-KR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𝒅</m:t>
                        </m:r>
                        <m:r>
                          <a:rPr lang="en-US" altLang="ko-KR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altLang="ko-KR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𝒎</m:t>
                        </m:r>
                      </m:sup>
                    </m:sSup>
                  </m:oMath>
                </a14:m>
                <a:r>
                  <a:rPr lang="en-US" altLang="ko-KR" b="1" dirty="0">
                    <a:solidFill>
                      <a:schemeClr val="tx1"/>
                    </a:solidFill>
                  </a:rPr>
                  <a:t> </a:t>
                </a:r>
                <a:r>
                  <a:rPr lang="ko-KR" altLang="en-US" b="1" dirty="0">
                    <a:solidFill>
                      <a:schemeClr val="tx1"/>
                    </a:solidFill>
                  </a:rPr>
                  <a:t>행렬에 이 </a:t>
                </a:r>
                <a:r>
                  <a:rPr lang="en-US" altLang="ko-KR" b="1" dirty="0">
                    <a:solidFill>
                      <a:schemeClr val="tx1"/>
                    </a:solidFill>
                  </a:rPr>
                  <a:t>Online Convex Programming </a:t>
                </a:r>
                <a:r>
                  <a:rPr lang="ko-KR" altLang="en-US" b="1" dirty="0">
                    <a:solidFill>
                      <a:schemeClr val="tx1"/>
                    </a:solidFill>
                  </a:rPr>
                  <a:t>을 적용해서 상태를 </a:t>
                </a:r>
                <a:r>
                  <a:rPr lang="en-US" altLang="ko-KR" b="1" dirty="0">
                    <a:solidFill>
                      <a:schemeClr val="tx1"/>
                    </a:solidFill>
                  </a:rPr>
                  <a:t>Update</a:t>
                </a:r>
                <a:r>
                  <a:rPr lang="ko-KR" altLang="en-US" b="1" dirty="0">
                    <a:solidFill>
                      <a:schemeClr val="tx1"/>
                    </a:solidFill>
                  </a:rPr>
                  <a:t>함</a:t>
                </a:r>
                <a:endParaRPr lang="en-US" altLang="ko-KR" b="1" dirty="0">
                  <a:solidFill>
                    <a:schemeClr val="tx1"/>
                  </a:solidFill>
                </a:endParaRPr>
              </a:p>
              <a:p>
                <a:pPr lvl="1"/>
                <a:endParaRPr lang="en-US" altLang="ko-KR" b="1" dirty="0">
                  <a:solidFill>
                    <a:schemeClr val="tx1"/>
                  </a:solidFill>
                </a:endParaRPr>
              </a:p>
              <a:p>
                <a:pPr lvl="1"/>
                <a:endParaRPr lang="en-US" altLang="ko-KR" b="1" dirty="0">
                  <a:solidFill>
                    <a:schemeClr val="tx1"/>
                  </a:solidFill>
                </a:endParaRPr>
              </a:p>
              <a:p>
                <a:pPr lvl="1"/>
                <a:endParaRPr lang="en-US" altLang="ko-KR" b="1" dirty="0">
                  <a:solidFill>
                    <a:schemeClr val="tx1"/>
                  </a:solidFill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altLang="ko-KR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𝑺</m:t>
                    </m:r>
                    <m:sSub>
                      <m:sSubPr>
                        <m:ctrlPr>
                          <a:rPr lang="en-US" altLang="ko-KR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</m:e>
                      <m:sub>
                        <m:r>
                          <a:rPr lang="en-US" altLang="ko-KR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</m:sub>
                    </m:sSub>
                    <m:r>
                      <a:rPr lang="ko-KR" altLang="en-US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는</m:t>
                    </m:r>
                  </m:oMath>
                </a14:m>
                <a:r>
                  <a:rPr lang="en-US" altLang="ko-KR" b="1" dirty="0">
                    <a:solidFill>
                      <a:schemeClr val="tx1"/>
                    </a:solidFill>
                  </a:rPr>
                  <a:t> </a:t>
                </a:r>
                <a:r>
                  <a:rPr lang="ko-KR" altLang="en-US" b="1" dirty="0">
                    <a:solidFill>
                      <a:schemeClr val="tx1"/>
                    </a:solidFill>
                  </a:rPr>
                  <a:t>직관적으로 </a:t>
                </a:r>
                <a:r>
                  <a:rPr lang="en-US" altLang="ko-KR" b="1" dirty="0">
                    <a:solidFill>
                      <a:schemeClr val="tx1"/>
                    </a:solidFill>
                  </a:rPr>
                  <a:t>key </a:t>
                </a:r>
                <a:r>
                  <a:rPr lang="ko-KR" altLang="en-US" b="1" dirty="0">
                    <a:solidFill>
                      <a:schemeClr val="tx1"/>
                    </a:solidFill>
                  </a:rPr>
                  <a:t>로 상태 공간에 </a:t>
                </a:r>
                <a:r>
                  <a:rPr lang="en-US" altLang="ko-KR" b="1" dirty="0">
                    <a:solidFill>
                      <a:schemeClr val="tx1"/>
                    </a:solidFill>
                  </a:rPr>
                  <a:t>value </a:t>
                </a:r>
                <a:r>
                  <a:rPr lang="ko-KR" altLang="en-US" b="1" dirty="0">
                    <a:solidFill>
                      <a:schemeClr val="tx1"/>
                    </a:solidFill>
                  </a:rPr>
                  <a:t>값을 꺼내고</a:t>
                </a:r>
                <a:r>
                  <a:rPr lang="en-US" altLang="ko-KR" b="1" dirty="0">
                    <a:solidFill>
                      <a:schemeClr val="tx1"/>
                    </a:solidFill>
                  </a:rPr>
                  <a:t> </a:t>
                </a:r>
                <a:r>
                  <a:rPr lang="ko-KR" altLang="en-US" b="1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ko-KR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</m:sub>
                    </m:sSub>
                  </m:oMath>
                </a14:m>
                <a:r>
                  <a:rPr lang="ko-KR" altLang="en-US" b="1" dirty="0">
                    <a:solidFill>
                      <a:schemeClr val="tx1"/>
                    </a:solidFill>
                  </a:rPr>
                  <a:t>와 유사하게 만드는 것</a:t>
                </a:r>
                <a:endParaRPr lang="en-US" altLang="ko-KR" b="1" dirty="0">
                  <a:solidFill>
                    <a:schemeClr val="tx1"/>
                  </a:solidFill>
                </a:endParaRPr>
              </a:p>
              <a:p>
                <a:pPr lvl="1"/>
                <a:r>
                  <a:rPr lang="ko-KR" altLang="en-US" b="1" dirty="0">
                    <a:solidFill>
                      <a:schemeClr val="tx1"/>
                    </a:solidFill>
                  </a:rPr>
                  <a:t>이를 수식 자체가 </a:t>
                </a:r>
                <a:r>
                  <a:rPr lang="en-US" altLang="ko-KR" b="1" dirty="0">
                    <a:solidFill>
                      <a:schemeClr val="tx1"/>
                    </a:solidFill>
                  </a:rPr>
                  <a:t>Closed Form</a:t>
                </a:r>
                <a:r>
                  <a:rPr lang="ko-KR" altLang="en-US" b="1" dirty="0">
                    <a:solidFill>
                      <a:schemeClr val="tx1"/>
                    </a:solidFill>
                  </a:rPr>
                  <a:t>이고 </a:t>
                </a:r>
                <a:r>
                  <a:rPr lang="en-US" altLang="ko-KR" b="1" dirty="0">
                    <a:solidFill>
                      <a:schemeClr val="tx1"/>
                    </a:solidFill>
                  </a:rPr>
                  <a:t>Frobenius norm</a:t>
                </a:r>
                <a:r>
                  <a:rPr lang="ko-KR" altLang="en-US" b="1" dirty="0">
                    <a:solidFill>
                      <a:schemeClr val="tx1"/>
                    </a:solidFill>
                  </a:rPr>
                  <a:t>으로 길이가 정의 되어 있으므로 이를 풀면</a:t>
                </a:r>
                <a:r>
                  <a:rPr lang="en-US" altLang="ko-KR" b="1" dirty="0">
                    <a:solidFill>
                      <a:schemeClr val="tx1"/>
                    </a:solidFill>
                  </a:rPr>
                  <a:t>,</a:t>
                </a:r>
              </a:p>
            </p:txBody>
          </p:sp>
        </mc:Choice>
        <mc:Fallback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F25966CC-1A05-94E6-8563-42276E6BCA6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16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0E5F280-6FE9-E4B3-7F21-2662CBDB8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7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65DBB21C-0818-29CF-D0A7-F8DD824CCB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756" y="3382268"/>
            <a:ext cx="5715000" cy="1547644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A571DF7E-3054-AA13-84F6-AC3280A3EC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44454" y="1581933"/>
            <a:ext cx="3769092" cy="371516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49AE23D4-F055-EBAD-677A-D2E64C41FBA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900" y="2647950"/>
            <a:ext cx="5410200" cy="403746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19F103D6-2C40-F0DE-3789-4E7EC74344E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3900" y="3147446"/>
            <a:ext cx="5638800" cy="186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50425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975FE0-1FD9-7076-3473-AE782B5DA7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D179B0-8C83-BA4C-436A-1454D7EBB3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After LONGHORN</a:t>
            </a:r>
            <a:endParaRPr lang="ko-KR" altLang="en-US" dirty="0">
              <a:solidFill>
                <a:srgbClr val="0070C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07393C59-10A7-98ED-52C9-76DA119E830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ko-KR" b="1" dirty="0">
                    <a:solidFill>
                      <a:schemeClr val="tx1"/>
                    </a:solidFill>
                  </a:rPr>
                  <a:t>Learning Objective in Online Learning</a:t>
                </a:r>
              </a:p>
              <a:p>
                <a:pPr lvl="1"/>
                <a:r>
                  <a:rPr lang="ko-KR" altLang="en-US" b="1" dirty="0">
                    <a:solidFill>
                      <a:schemeClr val="tx1"/>
                    </a:solidFill>
                  </a:rPr>
                  <a:t>대부분의 </a:t>
                </a:r>
                <a:r>
                  <a:rPr lang="en-US" altLang="ko-KR" b="1" dirty="0">
                    <a:solidFill>
                      <a:schemeClr val="tx1"/>
                    </a:solidFill>
                  </a:rPr>
                  <a:t>Learning Objective </a:t>
                </a:r>
                <a:r>
                  <a:rPr lang="ko-KR" altLang="en-US" b="1" dirty="0">
                    <a:solidFill>
                      <a:schemeClr val="tx1"/>
                    </a:solidFill>
                  </a:rPr>
                  <a:t>가</a:t>
                </a:r>
                <a:endParaRPr lang="en-US" altLang="ko-KR" b="1" dirty="0">
                  <a:solidFill>
                    <a:schemeClr val="tx1"/>
                  </a:solidFill>
                </a:endParaRPr>
              </a:p>
              <a:p>
                <a:pPr marL="342900" lvl="1" indent="0" algn="ctr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altLang="ko-KR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𝒎𝒊𝒏</m:t>
                      </m:r>
                      <m:r>
                        <a:rPr lang="en-US" altLang="ko-KR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Sup>
                        <m:sSubSupPr>
                          <m:ctrlPr>
                            <a:rPr lang="en-US" altLang="ko-KR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𝑺</m:t>
                              </m:r>
                              <m: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ko-KR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𝑺</m:t>
                                  </m:r>
                                </m:e>
                                <m:sub>
                                  <m:r>
                                    <a:rPr lang="en-US" altLang="ko-KR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𝒕</m:t>
                                  </m:r>
                                  <m:r>
                                    <a:rPr lang="en-US" altLang="ko-KR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ko-KR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</m:e>
                          </m:d>
                        </m:e>
                        <m:sub>
                          <m:r>
                            <a:rPr lang="en-US" altLang="ko-KR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𝑭</m:t>
                          </m:r>
                        </m:sub>
                        <m:sup>
                          <m:r>
                            <a:rPr lang="en-US" altLang="ko-KR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bSup>
                      <m:r>
                        <a:rPr lang="en-US" altLang="ko-KR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ko-KR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altLang="ko-KR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𝑳</m:t>
                      </m:r>
                      <m:d>
                        <m:dPr>
                          <m:ctrlPr>
                            <a:rPr lang="en-US" altLang="ko-KR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</m:d>
                    </m:oMath>
                  </m:oMathPara>
                </a14:m>
                <a:endParaRPr lang="en-US" altLang="ko-KR" b="1" dirty="0">
                  <a:solidFill>
                    <a:schemeClr val="tx1"/>
                  </a:solidFill>
                </a:endParaRPr>
              </a:p>
              <a:p>
                <a:pPr lvl="1"/>
                <a:r>
                  <a:rPr lang="ko-KR" altLang="en-US" b="1" dirty="0">
                    <a:solidFill>
                      <a:schemeClr val="tx1"/>
                    </a:solidFill>
                  </a:rPr>
                  <a:t>이고 이는 미분을 통해 풀게 되면</a:t>
                </a:r>
                <a:endParaRPr lang="en-US" altLang="ko-KR" b="1" dirty="0">
                  <a:solidFill>
                    <a:schemeClr val="tx1"/>
                  </a:solidFill>
                </a:endParaRPr>
              </a:p>
              <a:p>
                <a:pPr marL="342900" lvl="1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sSubPr>
                          <m:ctrlPr>
                            <a:rPr lang="en-US" altLang="ko-KR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𝑺</m:t>
                          </m:r>
                        </m:e>
                        <m:sub>
                          <m:r>
                            <a:rPr lang="en-US" altLang="ko-KR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</m:sub>
                      </m:sSub>
                      <m:r>
                        <a:rPr lang="en-US" altLang="ko-KR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ko-KR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𝑺</m:t>
                          </m:r>
                        </m:e>
                        <m:sub>
                          <m:r>
                            <a:rPr lang="en-US" altLang="ko-KR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  <m:r>
                            <a:rPr lang="en-US" altLang="ko-KR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ko-KR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ko-KR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ko-KR" altLang="en-US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𝛁</m:t>
                          </m:r>
                        </m:e>
                        <m:sub>
                          <m:r>
                            <a:rPr lang="en-US" altLang="ko-KR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𝒔</m:t>
                          </m:r>
                        </m:sub>
                      </m:sSub>
                      <m:r>
                        <a:rPr lang="en-US" altLang="ko-KR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𝑳</m:t>
                      </m:r>
                      <m:d>
                        <m:dPr>
                          <m:ctrlPr>
                            <a:rPr lang="en-US" altLang="ko-KR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</m:d>
                      <m:r>
                        <a:rPr lang="en-US" altLang="ko-KR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US" altLang="ko-KR" b="1" dirty="0">
                  <a:solidFill>
                    <a:schemeClr val="tx1"/>
                  </a:solidFill>
                </a:endParaRPr>
              </a:p>
              <a:p>
                <a:pPr marL="342900" lvl="1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  <m:sub>
                        <m:r>
                          <a:rPr lang="en-US" altLang="ko-KR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</m:sub>
                    </m:sSub>
                    <m:r>
                      <a:rPr lang="en-US" altLang="ko-KR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  <m:sub>
                        <m:r>
                          <a:rPr lang="en-US" altLang="ko-KR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  <m:r>
                          <a:rPr lang="en-US" altLang="ko-KR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ko-KR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ko-KR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ko-KR" altLang="en-US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𝛁</m:t>
                        </m:r>
                      </m:e>
                      <m:sub>
                        <m:r>
                          <a:rPr lang="en-US" altLang="ko-KR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𝒔</m:t>
                        </m:r>
                      </m:sub>
                    </m:sSub>
                    <m:r>
                      <a:rPr lang="en-US" altLang="ko-KR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𝑳</m:t>
                    </m:r>
                    <m:d>
                      <m:dPr>
                        <m:ctrlPr>
                          <a:rPr lang="en-US" altLang="ko-KR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𝒔</m:t>
                        </m:r>
                      </m:e>
                    </m:d>
                  </m:oMath>
                </a14:m>
                <a:r>
                  <a:rPr lang="en-US" altLang="ko-KR" b="1" dirty="0">
                    <a:solidFill>
                      <a:schemeClr val="tx1"/>
                    </a:solidFill>
                  </a:rPr>
                  <a:t> </a:t>
                </a:r>
              </a:p>
              <a:p>
                <a:pPr lvl="1"/>
                <a:r>
                  <a:rPr lang="ko-KR" altLang="en-US" b="1" dirty="0">
                    <a:solidFill>
                      <a:schemeClr val="tx1"/>
                    </a:solidFill>
                  </a:rPr>
                  <a:t>가</a:t>
                </a:r>
                <a:r>
                  <a:rPr lang="en-US" altLang="ko-KR" b="1" dirty="0">
                    <a:solidFill>
                      <a:schemeClr val="tx1"/>
                    </a:solidFill>
                  </a:rPr>
                  <a:t> </a:t>
                </a:r>
                <a:r>
                  <a:rPr lang="ko-KR" altLang="en-US" b="1" dirty="0">
                    <a:solidFill>
                      <a:schemeClr val="tx1"/>
                    </a:solidFill>
                  </a:rPr>
                  <a:t>되므로 이후의 </a:t>
                </a:r>
                <a:r>
                  <a:rPr lang="en-US" altLang="ko-KR" b="1" dirty="0">
                    <a:solidFill>
                      <a:schemeClr val="tx1"/>
                    </a:solidFill>
                  </a:rPr>
                  <a:t>Online</a:t>
                </a:r>
                <a:r>
                  <a:rPr lang="ko-KR" altLang="en-US" b="1" dirty="0">
                    <a:solidFill>
                      <a:schemeClr val="tx1"/>
                    </a:solidFill>
                  </a:rPr>
                  <a:t> </a:t>
                </a:r>
                <a:r>
                  <a:rPr lang="en-US" altLang="ko-KR" b="1" dirty="0">
                    <a:solidFill>
                      <a:schemeClr val="tx1"/>
                    </a:solidFill>
                  </a:rPr>
                  <a:t>Learning</a:t>
                </a:r>
                <a:r>
                  <a:rPr lang="ko-KR" altLang="en-US" b="1" dirty="0">
                    <a:solidFill>
                      <a:schemeClr val="tx1"/>
                    </a:solidFill>
                  </a:rPr>
                  <a:t> 계열의 논문들은 대부분 </a:t>
                </a:r>
                <a:r>
                  <a:rPr lang="en-US" altLang="ko-KR" b="1" dirty="0">
                    <a:solidFill>
                      <a:schemeClr val="tx1"/>
                    </a:solidFill>
                  </a:rPr>
                  <a:t>Learning Object </a:t>
                </a:r>
                <a14:m>
                  <m:oMath xmlns:m="http://schemas.openxmlformats.org/officeDocument/2006/math">
                    <m:r>
                      <a:rPr lang="en-US" altLang="ko-KR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𝑳</m:t>
                    </m:r>
                    <m:r>
                      <a:rPr lang="en-US" altLang="ko-KR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𝒔</m:t>
                    </m:r>
                    <m:r>
                      <a:rPr lang="en-US" altLang="ko-KR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ko-KR" b="1" dirty="0">
                    <a:solidFill>
                      <a:schemeClr val="tx1"/>
                    </a:solidFill>
                  </a:rPr>
                  <a:t>, Updating Rule</a:t>
                </a:r>
                <a:r>
                  <a:rPr lang="ko-KR" altLang="en-US" b="1" dirty="0">
                    <a:solidFill>
                      <a:schemeClr val="tx1"/>
                    </a:solidFill>
                  </a:rPr>
                  <a:t>을 제시하게 된다</a:t>
                </a:r>
                <a:r>
                  <a:rPr lang="en-US" altLang="ko-KR" b="1" dirty="0">
                    <a:solidFill>
                      <a:schemeClr val="tx1"/>
                    </a:solidFill>
                  </a:rPr>
                  <a:t>. </a:t>
                </a:r>
                <a:r>
                  <a:rPr lang="ko-KR" altLang="en-US" b="1" dirty="0">
                    <a:solidFill>
                      <a:schemeClr val="tx1"/>
                    </a:solidFill>
                  </a:rPr>
                  <a:t> </a:t>
                </a:r>
                <a:endParaRPr lang="en-US" altLang="ko-KR" b="1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07393C59-10A7-98ED-52C9-76DA119E830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16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FD6B165-22DC-5308-27D8-1BF4928FA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8</a:t>
            </a:fld>
            <a:endParaRPr lang="ko-KR" altLang="en-US" dirty="0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0A200C9A-2937-694B-08AF-64A56707AD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647950"/>
            <a:ext cx="5803392" cy="1808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76954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348FD4-2229-A1D8-0D78-3C4307726B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BC2627D-A80E-4FFA-AFFD-E58C7B47AF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GATED DELTA NETWORKS: IMPROVING MAMBA2 WITH DELTA RULE (ICLR, 2025, Yang et al.)</a:t>
            </a:r>
            <a:endParaRPr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1CAC5864-853A-E1CD-90CA-262ED46E2D5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ko-KR" dirty="0"/>
                  <a:t>Delta Network(ICLR,2024,Yang et al.) </a:t>
                </a:r>
                <a:r>
                  <a:rPr lang="ko-KR" altLang="en-US" dirty="0"/>
                  <a:t>에서는 </a:t>
                </a:r>
                <a:r>
                  <a:rPr lang="en-US" altLang="ko-KR" dirty="0"/>
                  <a:t>Learning Objective </a:t>
                </a:r>
                <a:r>
                  <a:rPr lang="ko-KR" altLang="en-US" dirty="0"/>
                  <a:t>에서 보면 알 수 있듯이 </a:t>
                </a:r>
                <a:r>
                  <a:rPr lang="en-US" altLang="ko-KR" dirty="0"/>
                  <a:t>State </a:t>
                </a:r>
                <a:r>
                  <a:rPr lang="ko-KR" altLang="en-US" dirty="0"/>
                  <a:t>행렬안의 정보에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ko-KR" altLang="en-US" dirty="0"/>
                  <a:t>를 통해서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ko-KR" altLang="en-US" dirty="0"/>
                  <a:t>를 잘 기억하게 고치는 것에 집중을 하고 있음</a:t>
                </a:r>
                <a:r>
                  <a:rPr lang="en-US" altLang="ko-KR" dirty="0"/>
                  <a:t>.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ko-KR" dirty="0"/>
                  <a:t>(</a:t>
                </a:r>
                <a:r>
                  <a:rPr lang="ko-KR" altLang="en-US" dirty="0"/>
                  <a:t>행렬내의 </a:t>
                </a:r>
                <a:r>
                  <a:rPr lang="en-US" altLang="ko-KR" dirty="0"/>
                  <a:t>t</a:t>
                </a:r>
                <a:r>
                  <a:rPr lang="ko-KR" altLang="en-US" dirty="0"/>
                  <a:t>시점의 정보에 대한 내용</a:t>
                </a:r>
                <a:r>
                  <a:rPr lang="en-US" altLang="ko-KR" dirty="0"/>
                  <a:t>)</a:t>
                </a:r>
                <a:r>
                  <a:rPr lang="ko-KR" altLang="en-US" dirty="0"/>
                  <a:t>과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ko-KR" dirty="0"/>
                  <a:t>(t</a:t>
                </a:r>
                <a:r>
                  <a:rPr lang="ko-KR" altLang="en-US" dirty="0"/>
                  <a:t>시점의 정보와 과거 시점의 정보에 대한 정보의 차이</a:t>
                </a:r>
                <a:r>
                  <a:rPr lang="en-US" altLang="ko-KR" dirty="0"/>
                  <a:t>) </a:t>
                </a:r>
                <a:r>
                  <a:rPr lang="ko-KR" altLang="en-US" dirty="0"/>
                  <a:t>간에 최소화를 수행함</a:t>
                </a:r>
                <a:endParaRPr lang="en-US" altLang="ko-KR" dirty="0"/>
              </a:p>
              <a:p>
                <a:r>
                  <a:rPr lang="en-US" altLang="ko-KR" dirty="0"/>
                  <a:t>Online Learning</a:t>
                </a:r>
                <a:r>
                  <a:rPr lang="ko-KR" altLang="en-US" dirty="0"/>
                  <a:t>으로 해석한 </a:t>
                </a:r>
                <a:r>
                  <a:rPr lang="en-US" altLang="ko-KR" dirty="0"/>
                  <a:t>Mamba2</a:t>
                </a:r>
                <a:r>
                  <a:rPr lang="ko-KR" altLang="en-US" dirty="0"/>
                  <a:t>를 보면</a:t>
                </a:r>
                <a:r>
                  <a:rPr lang="en-US" altLang="ko-KR" dirty="0"/>
                  <a:t>,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를</m:t>
                    </m:r>
                  </m:oMath>
                </a14:m>
                <a:r>
                  <a:rPr lang="ko-KR" altLang="en-US" dirty="0"/>
                  <a:t> 통해서 과거의 정보를 얼마나 지울지에 대한 </a:t>
                </a:r>
                <a:r>
                  <a:rPr lang="en-US" altLang="ko-KR" dirty="0"/>
                  <a:t>Objective</a:t>
                </a:r>
                <a:r>
                  <a:rPr lang="ko-KR" altLang="en-US" dirty="0"/>
                  <a:t>를 두고 있고</a:t>
                </a:r>
                <a:endParaRPr lang="en-US" altLang="ko-KR" dirty="0"/>
              </a:p>
              <a:p>
                <a:r>
                  <a:rPr lang="en-US" altLang="ko-KR" dirty="0" err="1"/>
                  <a:t>DeltaNetwork</a:t>
                </a:r>
                <a:r>
                  <a:rPr lang="en-US" altLang="ko-KR" dirty="0"/>
                  <a:t> (</a:t>
                </a:r>
                <a:r>
                  <a:rPr lang="ko-KR" altLang="en-US" dirty="0"/>
                  <a:t>현재 정보 잘 기억하기</a:t>
                </a:r>
                <a:r>
                  <a:rPr lang="en-US" altLang="ko-KR" dirty="0"/>
                  <a:t>) + Mamba2</a:t>
                </a:r>
                <a:r>
                  <a:rPr lang="ko-KR" altLang="en-US" dirty="0"/>
                  <a:t> </a:t>
                </a:r>
                <a:r>
                  <a:rPr lang="en-US" altLang="ko-KR" dirty="0"/>
                  <a:t>(</a:t>
                </a:r>
                <a:r>
                  <a:rPr lang="ko-KR" altLang="en-US" dirty="0"/>
                  <a:t>과거정보 잘 보존하기</a:t>
                </a:r>
                <a:r>
                  <a:rPr lang="en-US" altLang="ko-KR" dirty="0"/>
                  <a:t>) </a:t>
                </a:r>
                <a:r>
                  <a:rPr lang="ko-KR" altLang="en-US" dirty="0"/>
                  <a:t>를 결합하여 </a:t>
                </a:r>
                <a:r>
                  <a:rPr lang="ko-KR" altLang="en-US" dirty="0" err="1"/>
                  <a:t>만든게</a:t>
                </a:r>
                <a:r>
                  <a:rPr lang="ko-KR" altLang="en-US" dirty="0"/>
                  <a:t> </a:t>
                </a:r>
                <a:r>
                  <a:rPr lang="en-US" altLang="ko-KR" dirty="0"/>
                  <a:t>Gated </a:t>
                </a:r>
                <a:r>
                  <a:rPr lang="en-US" altLang="ko-KR" dirty="0" err="1"/>
                  <a:t>DeltaNetwork</a:t>
                </a:r>
                <a:r>
                  <a:rPr lang="ko-KR" altLang="en-US" dirty="0"/>
                  <a:t>   </a:t>
                </a:r>
              </a:p>
            </p:txBody>
          </p:sp>
        </mc:Choice>
        <mc:Fallback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1CAC5864-853A-E1CD-90CA-262ED46E2D5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16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4F5CB6C-9F0A-5CB5-3FD5-C4E52678B9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9</a:t>
            </a:fld>
            <a:endParaRPr lang="ko-KR" altLang="en-US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E11B5B79-8358-946E-E210-10D17965E3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647950"/>
            <a:ext cx="5791200" cy="1849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36770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DD907D-9A9D-CE67-0FF6-6F62E8DE4D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GATED DELTA NETWORKS: IMPROVING MAMBA2 WITH DELTA RULE (ICLR, 2025, Yang et al.)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65790F3-AF1A-26DA-77F9-B38C10083F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/>
              <a:t>GatedDeltaNet</a:t>
            </a:r>
            <a:r>
              <a:rPr lang="en-US" altLang="ko-KR" dirty="0"/>
              <a:t> </a:t>
            </a:r>
            <a:r>
              <a:rPr lang="ko-KR" altLang="en-US" dirty="0"/>
              <a:t>는 </a:t>
            </a:r>
            <a:r>
              <a:rPr lang="en-US" altLang="ko-KR" dirty="0" err="1"/>
              <a:t>Transofrmer</a:t>
            </a:r>
            <a:r>
              <a:rPr lang="ko-KR" altLang="en-US" dirty="0"/>
              <a:t>의 </a:t>
            </a:r>
            <a:r>
              <a:rPr lang="en-US" altLang="ko-KR" dirty="0"/>
              <a:t>Attention</a:t>
            </a:r>
            <a:r>
              <a:rPr lang="ko-KR" altLang="en-US" dirty="0"/>
              <a:t>과 동일한 기능을 하고 있고</a:t>
            </a:r>
            <a:r>
              <a:rPr lang="en-US" altLang="ko-KR" dirty="0"/>
              <a:t>, </a:t>
            </a:r>
            <a:r>
              <a:rPr lang="ko-KR" altLang="en-US" dirty="0"/>
              <a:t>실제로 </a:t>
            </a:r>
            <a:r>
              <a:rPr lang="en-US" altLang="ko-KR" dirty="0"/>
              <a:t>Transformer</a:t>
            </a:r>
            <a:r>
              <a:rPr lang="ko-KR" altLang="en-US" dirty="0"/>
              <a:t>를 대체해도 좋은 성능을 보인다</a:t>
            </a:r>
            <a:r>
              <a:rPr lang="en-US" altLang="ko-KR" dirty="0"/>
              <a:t>.</a:t>
            </a:r>
          </a:p>
          <a:p>
            <a:r>
              <a:rPr lang="ko-KR" altLang="en-US" dirty="0" err="1"/>
              <a:t>그중에서</a:t>
            </a:r>
            <a:r>
              <a:rPr lang="ko-KR" altLang="en-US" dirty="0"/>
              <a:t> </a:t>
            </a:r>
            <a:r>
              <a:rPr lang="en-US" altLang="ko-KR" dirty="0"/>
              <a:t>Gated DeltaNet-H2 </a:t>
            </a:r>
            <a:r>
              <a:rPr lang="ko-KR" altLang="en-US" dirty="0"/>
              <a:t>처럼 </a:t>
            </a:r>
            <a:r>
              <a:rPr lang="en-US" altLang="ko-KR" dirty="0"/>
              <a:t>Sliding Window Attention</a:t>
            </a:r>
            <a:r>
              <a:rPr lang="ko-KR" altLang="en-US" dirty="0"/>
              <a:t> 과 </a:t>
            </a:r>
            <a:r>
              <a:rPr lang="en-US" altLang="ko-KR" dirty="0"/>
              <a:t>Gated Delta</a:t>
            </a:r>
            <a:r>
              <a:rPr lang="ko-KR" altLang="en-US" dirty="0"/>
              <a:t> </a:t>
            </a:r>
            <a:r>
              <a:rPr lang="en-US" altLang="ko-KR" dirty="0"/>
              <a:t>Net</a:t>
            </a:r>
            <a:r>
              <a:rPr lang="ko-KR" altLang="en-US" dirty="0"/>
              <a:t>를 결합했을 때</a:t>
            </a:r>
            <a:r>
              <a:rPr lang="en-US" altLang="ko-KR" dirty="0"/>
              <a:t>, </a:t>
            </a:r>
            <a:r>
              <a:rPr lang="ko-KR" altLang="en-US" dirty="0"/>
              <a:t>가장 좋은 성능을 보인다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CFFB34C-7254-7231-BADC-1A14C408F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10</a:t>
            </a:fld>
            <a:endParaRPr lang="ko-KR" altLang="en-US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2DBDD121-24DB-C8C0-F932-79E7D4799A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15322"/>
            <a:ext cx="3840648" cy="2132827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3D60857B-5AAF-BDCE-1F4C-BFE7CE382C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3800" y="2574814"/>
            <a:ext cx="3124200" cy="1266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18634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4444D2-1B45-92D0-9666-798866B311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48409D-B86B-F19F-853F-61AA8C6454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Kimi Delta Network</a:t>
            </a:r>
            <a:endParaRPr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D78D230A-5C5B-FC85-B94B-964CC78C81F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ko-KR" dirty="0"/>
                  <a:t>Kimi Delta Network</a:t>
                </a:r>
              </a:p>
              <a:p>
                <a:pPr lvl="1"/>
                <a:r>
                  <a:rPr lang="ko-KR" altLang="en-US" dirty="0"/>
                  <a:t>같은 경우</a:t>
                </a:r>
                <a:r>
                  <a:rPr lang="en-US" altLang="ko-KR" dirty="0"/>
                  <a:t>, Gated Delta </a:t>
                </a:r>
                <a:r>
                  <a:rPr lang="en-US" altLang="ko-KR" dirty="0" err="1"/>
                  <a:t>Nework</a:t>
                </a:r>
                <a:r>
                  <a:rPr lang="ko-KR" altLang="en-US" dirty="0"/>
                  <a:t>에서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ko-KR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ko-KR" altLang="en-US" dirty="0"/>
                  <a:t> 같은 경우</a:t>
                </a:r>
                <a:r>
                  <a:rPr lang="en-US" altLang="ko-KR" dirty="0"/>
                  <a:t>,  </a:t>
                </a:r>
                <a:r>
                  <a:rPr lang="ko-KR" altLang="en-US" dirty="0"/>
                  <a:t>스칼라로서 정의 되어 있었는데 </a:t>
                </a:r>
                <a:r>
                  <a:rPr lang="en-US" altLang="ko-KR" dirty="0"/>
                  <a:t>(Ideal </a:t>
                </a:r>
                <a:r>
                  <a:rPr lang="ko-KR" altLang="en-US" dirty="0"/>
                  <a:t>하게 최적화 하기 위해 </a:t>
                </a:r>
                <a:r>
                  <a:rPr lang="en-US" altLang="ko-KR" dirty="0"/>
                  <a:t>Mamba2</a:t>
                </a:r>
                <a:r>
                  <a:rPr lang="ko-KR" altLang="en-US" dirty="0"/>
                  <a:t>에서</a:t>
                </a:r>
                <a:r>
                  <a:rPr lang="en-US" altLang="ko-KR" dirty="0"/>
                  <a:t> </a:t>
                </a:r>
                <a:r>
                  <a:rPr lang="ko-KR" altLang="en-US" dirty="0"/>
                  <a:t>한정함</a:t>
                </a:r>
                <a:r>
                  <a:rPr lang="en-US" altLang="ko-KR" dirty="0"/>
                  <a:t>)</a:t>
                </a:r>
                <a:r>
                  <a:rPr lang="ko-KR" altLang="en-US" dirty="0"/>
                  <a:t> 이를 다시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𝐷𝑖𝑎𝑔</m:t>
                    </m:r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  <m:r>
                      <a:rPr lang="ko-KR" altLang="en-US" i="1">
                        <a:latin typeface="Cambria Math" panose="02040503050406030204" pitchFamily="18" charset="0"/>
                      </a:rPr>
                      <m:t>를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사</m:t>
                    </m:r>
                  </m:oMath>
                </a14:m>
                <a:r>
                  <a:rPr lang="ko-KR" altLang="en-US" dirty="0"/>
                  <a:t>용하게 변경해서 </a:t>
                </a:r>
                <a:r>
                  <a:rPr lang="en-US" altLang="ko-KR" dirty="0"/>
                  <a:t>Kimi Delta Network </a:t>
                </a:r>
                <a:r>
                  <a:rPr lang="ko-KR" altLang="en-US" dirty="0"/>
                  <a:t>가 사용하고 있음</a:t>
                </a:r>
                <a:r>
                  <a:rPr lang="en-US" altLang="ko-KR" dirty="0"/>
                  <a:t>.</a:t>
                </a:r>
              </a:p>
              <a:p>
                <a:pPr lvl="1"/>
                <a:r>
                  <a:rPr lang="ko-KR" altLang="en-US" dirty="0"/>
                  <a:t>이렇게 사용하게 되면</a:t>
                </a:r>
                <a:r>
                  <a:rPr lang="en-US" altLang="ko-KR" dirty="0"/>
                  <a:t>, channel</a:t>
                </a:r>
                <a:r>
                  <a:rPr lang="ko-KR" altLang="en-US" dirty="0"/>
                  <a:t> 에 대한 </a:t>
                </a:r>
                <a:r>
                  <a:rPr lang="en-US" altLang="ko-KR" dirty="0"/>
                  <a:t>Decay</a:t>
                </a:r>
                <a:r>
                  <a:rPr lang="ko-KR" altLang="en-US" dirty="0"/>
                  <a:t>가 된다는 점이 장점이고 또한 이 수식을 정리하면</a:t>
                </a:r>
                <a:r>
                  <a:rPr lang="en-US" altLang="ko-KR" dirty="0"/>
                  <a:t>,</a:t>
                </a:r>
              </a:p>
              <a:p>
                <a:pPr marL="342900" lvl="1" indent="0" algn="ctr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=(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𝐷𝑖𝑎𝑔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𝐷𝑖𝑎𝑔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sSubSup>
                        <m:sSubSup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ko-KR" dirty="0"/>
              </a:p>
              <a:p>
                <a:pPr lvl="1"/>
                <a:r>
                  <a:rPr lang="en-US" altLang="ko-KR" dirty="0"/>
                  <a:t>Mamba</a:t>
                </a:r>
                <a:r>
                  <a:rPr lang="ko-KR" altLang="en-US" dirty="0"/>
                  <a:t>의 </a:t>
                </a:r>
                <a:r>
                  <a:rPr lang="en-US" altLang="ko-KR" dirty="0"/>
                  <a:t>A</a:t>
                </a:r>
                <a:r>
                  <a:rPr lang="ko-KR" altLang="en-US" dirty="0"/>
                  <a:t>행렬로 볼 수 있고</a:t>
                </a:r>
                <a:r>
                  <a:rPr lang="en-US" altLang="ko-KR" dirty="0"/>
                  <a:t>, </a:t>
                </a:r>
                <a:r>
                  <a:rPr lang="ko-KR" altLang="en-US" dirty="0"/>
                  <a:t>또한 </a:t>
                </a:r>
                <a:r>
                  <a:rPr lang="en-US" altLang="ko-KR" dirty="0"/>
                  <a:t>S4</a:t>
                </a:r>
                <a:r>
                  <a:rPr lang="ko-KR" altLang="en-US" dirty="0"/>
                  <a:t>에서 포기했던</a:t>
                </a:r>
                <a:r>
                  <a:rPr lang="en-US" altLang="ko-KR" dirty="0"/>
                  <a:t>, DPLR(Diagonalized + Low Rank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𝐷𝑖𝑎𝑔</m:t>
                    </m:r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𝑞</m:t>
                    </m:r>
                    <m:sSup>
                      <m:sSup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en-US" altLang="ko-KR" dirty="0"/>
                  <a:t>) </a:t>
                </a:r>
                <a:r>
                  <a:rPr lang="ko-KR" altLang="en-US" dirty="0"/>
                  <a:t>의 구조로서 볼 수 있기 때문에 성능이 훨씬 좋아 지는 것을 확인할 수 있다</a:t>
                </a:r>
                <a:r>
                  <a:rPr lang="en-US" altLang="ko-KR" dirty="0"/>
                  <a:t>.</a:t>
                </a:r>
                <a:r>
                  <a:rPr lang="ko-KR" altLang="en-US" dirty="0"/>
                  <a:t> </a:t>
                </a:r>
                <a:endParaRPr lang="en-US" altLang="ko-KR" dirty="0"/>
              </a:p>
            </p:txBody>
          </p:sp>
        </mc:Choice>
        <mc:Fallback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D78D230A-5C5B-FC85-B94B-964CC78C81F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16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C1DE36E-4BD8-E377-C592-9A3123BE71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11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682A1934-EFA0-96A5-7653-6CACFD3DA9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" y="2343150"/>
            <a:ext cx="6858000" cy="1251195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03A6FE8E-E233-F311-03FE-82903E2921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0200" y="3594345"/>
            <a:ext cx="4038600" cy="1478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30952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4A7C35-A6FB-017E-1687-D8FACA4F32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5AF6E9-E349-BA5C-990E-1C89568491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Kimi Delta Attention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31F81B1-B81E-A36B-A362-588C898030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Kimi Linear </a:t>
            </a:r>
            <a:r>
              <a:rPr lang="ko-KR" altLang="en-US" dirty="0"/>
              <a:t>는 </a:t>
            </a:r>
            <a:r>
              <a:rPr lang="en-US" altLang="ko-KR" dirty="0"/>
              <a:t>Kimi V3 </a:t>
            </a:r>
            <a:r>
              <a:rPr lang="ko-KR" altLang="en-US" dirty="0"/>
              <a:t>의 프리뷰 버전으로 나온 모델인데</a:t>
            </a:r>
            <a:r>
              <a:rPr lang="en-US" altLang="ko-KR" dirty="0"/>
              <a:t>, </a:t>
            </a:r>
            <a:r>
              <a:rPr lang="ko-KR" altLang="en-US" dirty="0"/>
              <a:t>여기에 </a:t>
            </a:r>
            <a:r>
              <a:rPr lang="en-US" altLang="ko-KR" dirty="0"/>
              <a:t>Kimi</a:t>
            </a:r>
            <a:r>
              <a:rPr lang="ko-KR" altLang="en-US" dirty="0"/>
              <a:t> </a:t>
            </a:r>
            <a:r>
              <a:rPr lang="en-US" altLang="ko-KR" dirty="0"/>
              <a:t>Delta Network</a:t>
            </a:r>
            <a:r>
              <a:rPr lang="ko-KR" altLang="en-US" dirty="0"/>
              <a:t>를 </a:t>
            </a:r>
            <a:r>
              <a:rPr lang="ko-KR" altLang="en-US" dirty="0" err="1"/>
              <a:t>도입했었음</a:t>
            </a:r>
            <a:r>
              <a:rPr lang="en-US" altLang="ko-KR" dirty="0"/>
              <a:t>. MLA + KDA </a:t>
            </a:r>
            <a:r>
              <a:rPr lang="ko-KR" altLang="en-US" dirty="0"/>
              <a:t>를 사용했을 때</a:t>
            </a:r>
            <a:r>
              <a:rPr lang="en-US" altLang="ko-KR" dirty="0"/>
              <a:t>, KDA</a:t>
            </a:r>
            <a:r>
              <a:rPr lang="ko-KR" altLang="en-US" dirty="0"/>
              <a:t>를 </a:t>
            </a:r>
            <a:r>
              <a:rPr lang="en-US" altLang="ko-KR" dirty="0"/>
              <a:t>3 MLA</a:t>
            </a:r>
            <a:r>
              <a:rPr lang="ko-KR" altLang="en-US" dirty="0"/>
              <a:t>를 </a:t>
            </a:r>
            <a:r>
              <a:rPr lang="en-US" altLang="ko-KR" dirty="0"/>
              <a:t>1</a:t>
            </a:r>
            <a:r>
              <a:rPr lang="ko-KR" altLang="en-US" dirty="0"/>
              <a:t>으로 </a:t>
            </a:r>
            <a:r>
              <a:rPr lang="ko-KR" altLang="en-US" dirty="0" err="1"/>
              <a:t>하는게</a:t>
            </a:r>
            <a:r>
              <a:rPr lang="ko-KR" altLang="en-US" dirty="0"/>
              <a:t> 마법의 비율이 되어서 현재 </a:t>
            </a:r>
            <a:r>
              <a:rPr lang="en-US" altLang="ko-KR" dirty="0"/>
              <a:t>KDA</a:t>
            </a:r>
            <a:r>
              <a:rPr lang="ko-KR" altLang="en-US" dirty="0"/>
              <a:t>을 적용한 모델</a:t>
            </a:r>
            <a:r>
              <a:rPr lang="en-US" altLang="ko-KR" dirty="0"/>
              <a:t>(Solar, Kimi V3)</a:t>
            </a:r>
            <a:r>
              <a:rPr lang="ko-KR" altLang="en-US" dirty="0"/>
              <a:t>같은 경우 </a:t>
            </a:r>
            <a:r>
              <a:rPr lang="en-US" altLang="ko-KR" dirty="0"/>
              <a:t>3:1</a:t>
            </a:r>
            <a:r>
              <a:rPr lang="ko-KR" altLang="en-US" dirty="0"/>
              <a:t>로 섞는 걸 표준으로 삼고 있음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다만 </a:t>
            </a:r>
            <a:r>
              <a:rPr lang="en-US" altLang="ko-KR" dirty="0"/>
              <a:t>3:1</a:t>
            </a:r>
            <a:r>
              <a:rPr lang="ko-KR" altLang="en-US" dirty="0"/>
              <a:t>로 섞는 것 같은 경우</a:t>
            </a:r>
            <a:r>
              <a:rPr lang="en-US" altLang="ko-KR" dirty="0"/>
              <a:t>, </a:t>
            </a:r>
            <a:r>
              <a:rPr lang="ko-KR" altLang="en-US" dirty="0"/>
              <a:t>여러가지 다른 실증 논문들을 보게 되면 </a:t>
            </a:r>
            <a:r>
              <a:rPr lang="en-US" altLang="ko-KR" dirty="0"/>
              <a:t>Attention </a:t>
            </a:r>
            <a:r>
              <a:rPr lang="ko-KR" altLang="en-US" dirty="0"/>
              <a:t>마다  </a:t>
            </a:r>
            <a:r>
              <a:rPr lang="en-US" altLang="ko-KR" dirty="0"/>
              <a:t>Online Learning </a:t>
            </a:r>
            <a:r>
              <a:rPr lang="ko-KR" altLang="en-US" dirty="0"/>
              <a:t>마다 다른 것 같음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07D7C02-A32E-24B9-5B87-8401BF12E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12</a:t>
            </a:fld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8F97E6AE-5A16-A4F7-264C-AD6620E517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84635" y="2343150"/>
            <a:ext cx="2955851" cy="264795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CAD28015-A848-5460-CBC0-75105C4B03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1800" y="2705025"/>
            <a:ext cx="3657600" cy="1714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02629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0CC1171-B479-F699-CE1D-5E2CD72D43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Online Learning </a:t>
            </a:r>
            <a:r>
              <a:rPr lang="ko-KR" altLang="en-US" dirty="0"/>
              <a:t>모델 근황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039AF5D-503F-60B4-C5FA-4DD2C08E3B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최근에 나오는 </a:t>
            </a:r>
            <a:r>
              <a:rPr lang="en-US" altLang="ko-KR" dirty="0"/>
              <a:t>Opensource </a:t>
            </a:r>
            <a:r>
              <a:rPr lang="ko-KR" altLang="en-US" dirty="0"/>
              <a:t>모델들 대부분이 </a:t>
            </a:r>
            <a:r>
              <a:rPr lang="en-US" altLang="ko-KR" dirty="0"/>
              <a:t>Online Learning </a:t>
            </a:r>
            <a:r>
              <a:rPr lang="ko-KR" altLang="en-US" dirty="0" err="1"/>
              <a:t>아키텍처랑</a:t>
            </a:r>
            <a:r>
              <a:rPr lang="ko-KR" altLang="en-US" dirty="0"/>
              <a:t> </a:t>
            </a:r>
            <a:r>
              <a:rPr lang="en-US" altLang="ko-KR" dirty="0"/>
              <a:t>Transformer </a:t>
            </a:r>
            <a:r>
              <a:rPr lang="ko-KR" altLang="en-US" dirty="0"/>
              <a:t>와 섞어서 </a:t>
            </a:r>
            <a:r>
              <a:rPr lang="en-US" altLang="ko-KR" dirty="0"/>
              <a:t>Decode </a:t>
            </a:r>
            <a:r>
              <a:rPr lang="ko-KR" altLang="en-US" dirty="0"/>
              <a:t>단의 연산속도를 높이는 것에 집중하고 있음</a:t>
            </a:r>
            <a:endParaRPr lang="en-US" altLang="ko-KR" dirty="0"/>
          </a:p>
          <a:p>
            <a:r>
              <a:rPr lang="en-US" altLang="ko-KR" dirty="0"/>
              <a:t>Qwen(GDN), KIMI(KDA), Solar(KDA) , </a:t>
            </a:r>
            <a:r>
              <a:rPr lang="en-US" altLang="ko-KR" dirty="0" err="1"/>
              <a:t>Nemotron</a:t>
            </a:r>
            <a:r>
              <a:rPr lang="en-US" altLang="ko-KR" dirty="0"/>
              <a:t>(Mamba2), GLM5(Kimi Linear) </a:t>
            </a:r>
            <a:r>
              <a:rPr lang="ko-KR" altLang="en-US" dirty="0"/>
              <a:t>등등 대부분의 모델에서 채택하고</a:t>
            </a:r>
            <a:r>
              <a:rPr lang="en-US" altLang="ko-KR" dirty="0"/>
              <a:t> </a:t>
            </a:r>
            <a:r>
              <a:rPr lang="ko-KR" altLang="en-US" dirty="0"/>
              <a:t>있음</a:t>
            </a:r>
            <a:endParaRPr lang="en-US" altLang="ko-KR" dirty="0"/>
          </a:p>
          <a:p>
            <a:r>
              <a:rPr lang="ko-KR" altLang="en-US" dirty="0"/>
              <a:t>다만 기본논문에서 </a:t>
            </a:r>
            <a:r>
              <a:rPr lang="en-US" altLang="ko-KR" dirty="0"/>
              <a:t>SWA + OL</a:t>
            </a:r>
            <a:r>
              <a:rPr lang="ko-KR" altLang="en-US" dirty="0"/>
              <a:t>이 제일 좋다고 하고 있으나</a:t>
            </a:r>
            <a:r>
              <a:rPr lang="en-US" altLang="ko-KR" dirty="0"/>
              <a:t>, MLA , Full attention </a:t>
            </a:r>
            <a:r>
              <a:rPr lang="ko-KR" altLang="en-US" dirty="0"/>
              <a:t>과 같은 다양한 </a:t>
            </a:r>
            <a:r>
              <a:rPr lang="ko-KR" altLang="en-US" dirty="0" err="1"/>
              <a:t>마리아쥬에</a:t>
            </a:r>
            <a:r>
              <a:rPr lang="ko-KR" altLang="en-US" dirty="0"/>
              <a:t> 대해서 연구가 계속 진행중임</a:t>
            </a:r>
            <a:r>
              <a:rPr lang="en-US" altLang="ko-KR" dirty="0"/>
              <a:t>. 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D0F415F-E15F-B198-A841-052758FC9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13</a:t>
            </a:fld>
            <a:endParaRPr lang="ko-KR" altLang="en-US" dirty="0"/>
          </a:p>
        </p:txBody>
      </p:sp>
      <p:pic>
        <p:nvPicPr>
          <p:cNvPr id="7" name="그림 6" descr="Qwen3.8-Flash-Next Architecture">
            <a:extLst>
              <a:ext uri="{FF2B5EF4-FFF2-40B4-BE49-F238E27FC236}">
                <a16:creationId xmlns:a16="http://schemas.microsoft.com/office/drawing/2014/main" id="{62F1EDA7-4224-BC64-C1A0-1BE571B986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2572512"/>
            <a:ext cx="2313992" cy="2350086"/>
          </a:xfrm>
          <a:prstGeom prst="rect">
            <a:avLst/>
          </a:prstGeom>
        </p:spPr>
      </p:pic>
      <p:pic>
        <p:nvPicPr>
          <p:cNvPr id="8" name="그림 7" descr="Refer to caption">
            <a:extLst>
              <a:ext uri="{FF2B5EF4-FFF2-40B4-BE49-F238E27FC236}">
                <a16:creationId xmlns:a16="http://schemas.microsoft.com/office/drawing/2014/main" id="{AFAB6966-31E0-0726-15E0-D8D50A3C1A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2723822"/>
            <a:ext cx="4114800" cy="2000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61855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271D0D-AB72-B615-A950-671FB391E6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마지막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5BA11B7-B426-7E6A-4F25-FF4C1B3376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기존 </a:t>
            </a:r>
            <a:r>
              <a:rPr lang="en-US" altLang="ko-KR" dirty="0"/>
              <a:t>SSM </a:t>
            </a:r>
            <a:r>
              <a:rPr lang="ko-KR" altLang="en-US" dirty="0"/>
              <a:t>모델들 같은 경우</a:t>
            </a:r>
            <a:r>
              <a:rPr lang="en-US" altLang="ko-KR" dirty="0"/>
              <a:t>, </a:t>
            </a:r>
            <a:r>
              <a:rPr lang="ko-KR" altLang="en-US" dirty="0"/>
              <a:t>연속형 함수 공간 내에서 </a:t>
            </a:r>
            <a:r>
              <a:rPr lang="en-US" altLang="ko-KR" dirty="0"/>
              <a:t>Online</a:t>
            </a:r>
            <a:r>
              <a:rPr lang="ko-KR" altLang="en-US" dirty="0"/>
              <a:t> </a:t>
            </a:r>
            <a:r>
              <a:rPr lang="en-US" altLang="ko-KR" dirty="0"/>
              <a:t>Approximation</a:t>
            </a:r>
            <a:r>
              <a:rPr lang="ko-KR" altLang="en-US" dirty="0"/>
              <a:t> 을 하는 방법론을 이산화 시켜서 지금까지 왔다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최근 </a:t>
            </a:r>
            <a:r>
              <a:rPr lang="en-US" altLang="ko-KR" dirty="0"/>
              <a:t>Online Learning </a:t>
            </a:r>
            <a:r>
              <a:rPr lang="ko-KR" altLang="en-US" dirty="0"/>
              <a:t>같은 경우</a:t>
            </a:r>
            <a:r>
              <a:rPr lang="en-US" altLang="ko-KR" dirty="0"/>
              <a:t>, </a:t>
            </a:r>
            <a:r>
              <a:rPr lang="ko-KR" altLang="en-US" dirty="0" err="1"/>
              <a:t>이산화된</a:t>
            </a:r>
            <a:r>
              <a:rPr lang="ko-KR" altLang="en-US" dirty="0"/>
              <a:t> </a:t>
            </a:r>
            <a:r>
              <a:rPr lang="en-US" altLang="ko-KR" dirty="0"/>
              <a:t>SSM</a:t>
            </a:r>
            <a:r>
              <a:rPr lang="ko-KR" altLang="en-US" dirty="0"/>
              <a:t>의 </a:t>
            </a:r>
            <a:r>
              <a:rPr lang="en-US" altLang="ko-KR" dirty="0"/>
              <a:t>State Update</a:t>
            </a:r>
            <a:r>
              <a:rPr lang="ko-KR" altLang="en-US" dirty="0"/>
              <a:t>를 </a:t>
            </a:r>
            <a:r>
              <a:rPr lang="en-US" altLang="ko-KR" dirty="0"/>
              <a:t>Online Convex Programming</a:t>
            </a:r>
            <a:r>
              <a:rPr lang="ko-KR" altLang="en-US" dirty="0"/>
              <a:t>으로 보고 이를 기반으로 모델을 계속 업데이트 해오고 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다만</a:t>
            </a:r>
            <a:r>
              <a:rPr lang="en-US" altLang="ko-KR" dirty="0"/>
              <a:t>, </a:t>
            </a:r>
            <a:r>
              <a:rPr lang="ko-KR" altLang="en-US" dirty="0"/>
              <a:t>본질적으로 수식들의 의미를 따라가다 보면  이산화를 가정하고 모델을 설계해왔고</a:t>
            </a:r>
            <a:r>
              <a:rPr lang="en-US" altLang="ko-KR" dirty="0"/>
              <a:t>(A Matrix, ZoH),  </a:t>
            </a:r>
            <a:r>
              <a:rPr lang="ko-KR" altLang="en-US" dirty="0"/>
              <a:t>최근 연구들</a:t>
            </a:r>
            <a:r>
              <a:rPr lang="en-US" altLang="ko-KR" dirty="0"/>
              <a:t>(Mamba3)</a:t>
            </a:r>
            <a:r>
              <a:rPr lang="ko-KR" altLang="en-US" dirty="0"/>
              <a:t>은 다시 이러한 연속형 함수공간에서 이산화 시키는 것에 대한 최적화 역시 계속 제안되고 있다</a:t>
            </a:r>
            <a:r>
              <a:rPr lang="en-US" altLang="ko-KR" dirty="0"/>
              <a:t>. (exponential-trapezoidal </a:t>
            </a:r>
            <a:r>
              <a:rPr lang="ko-KR" altLang="en-US" dirty="0"/>
              <a:t>같은 것들</a:t>
            </a:r>
            <a:r>
              <a:rPr lang="en-US" altLang="ko-KR" dirty="0"/>
              <a:t>) 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037A99D-B34A-1CA7-C04F-A4B2299F14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14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193914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1400" dirty="0">
                <a:ln>
                  <a:noFill/>
                </a:ln>
                <a:solidFill>
                  <a:sysClr val="windowText" lastClr="000000"/>
                </a:solidFill>
                <a:latin typeface="Times New Roman" panose="02020603050405020304" pitchFamily="18" charset="0"/>
                <a:ea typeface="나눔스퀘어 Bold" panose="020B0600000101010101" pitchFamily="50" charset="-127"/>
                <a:cs typeface="Times New Roman" panose="02020603050405020304" pitchFamily="18" charset="0"/>
              </a:rPr>
              <a:t>Q&amp;A</a:t>
            </a:r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5730664C-BE00-45C2-9F36-A7C41BF6070F}"/>
              </a:ext>
            </a:extLst>
          </p:cNvPr>
          <p:cNvSpPr txBox="1">
            <a:spLocks/>
          </p:cNvSpPr>
          <p:nvPr/>
        </p:nvSpPr>
        <p:spPr>
          <a:xfrm>
            <a:off x="342900" y="2104932"/>
            <a:ext cx="6172200" cy="93363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1" hangingPunct="1">
              <a:spcBef>
                <a:spcPct val="0"/>
              </a:spcBef>
              <a:buNone/>
              <a:defRPr sz="2100" b="1" kern="1200" baseline="0">
                <a:ln>
                  <a:solidFill>
                    <a:srgbClr val="595959">
                      <a:alpha val="5000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en-US" altLang="ko-KR" sz="6600" dirty="0">
                <a:ln>
                  <a:solidFill>
                    <a:schemeClr val="tx1">
                      <a:lumMod val="65000"/>
                      <a:lumOff val="35000"/>
                      <a:alpha val="20000"/>
                    </a:schemeClr>
                  </a:solidFill>
                </a:ln>
                <a:solidFill>
                  <a:schemeClr val="tx1"/>
                </a:solidFill>
                <a:latin typeface="Times New Roman" panose="02020603050405020304" pitchFamily="18" charset="0"/>
                <a:ea typeface="나눔스퀘어 Bold" panose="020B0600000101010101" pitchFamily="50" charset="-127"/>
                <a:cs typeface="Times New Roman" panose="02020603050405020304" pitchFamily="18" charset="0"/>
              </a:rPr>
              <a:t>Q&amp;A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0C9DB3C9-B1CB-51B4-EDB7-3F6FA18EC5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15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016213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사용자 지정 2">
      <a:majorFont>
        <a:latin typeface="에스코어 드림 7 ExtraBold"/>
        <a:ea typeface="에스코어 드림 7 ExtraBold"/>
        <a:cs typeface=""/>
      </a:majorFont>
      <a:minorFont>
        <a:latin typeface="에스코어 드림 4 Regular"/>
        <a:ea typeface="에스코어 드림 4 Regula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SCLabPPTv1.pptx" id="{40F6047B-5EE6-4566-BC5E-3571A2220D60}" vid="{F984BC31-79A8-492A-8888-FE7ECF3EB51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52408</TotalTime>
  <Words>1915</Words>
  <Application>Microsoft Office PowerPoint</Application>
  <PresentationFormat>사용자 지정</PresentationFormat>
  <Paragraphs>107</Paragraphs>
  <Slides>15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11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27" baseType="lpstr">
      <vt:lpstr>Noto Sans KR Light</vt:lpstr>
      <vt:lpstr>Noto Sans KR Medium</vt:lpstr>
      <vt:lpstr>맑은 고딕</vt:lpstr>
      <vt:lpstr>에스코어 드림 4 Regular</vt:lpstr>
      <vt:lpstr>에스코어 드림 7 ExtraBold</vt:lpstr>
      <vt:lpstr>Arial</vt:lpstr>
      <vt:lpstr>Calibri</vt:lpstr>
      <vt:lpstr>Calibri Light</vt:lpstr>
      <vt:lpstr>Cambria</vt:lpstr>
      <vt:lpstr>Cambria Math</vt:lpstr>
      <vt:lpstr>Times New Roman</vt:lpstr>
      <vt:lpstr>Office 테마</vt:lpstr>
      <vt:lpstr>PowerPoint 프레젠테이션</vt:lpstr>
      <vt:lpstr>Before HiPPO</vt:lpstr>
      <vt:lpstr>HiPPO: Recurrent Memory with Optimal Polynomial Projection</vt:lpstr>
      <vt:lpstr>HiPPO: Recurrent Memory with Optimal Polynomial Projection</vt:lpstr>
      <vt:lpstr>After HiPPO</vt:lpstr>
      <vt:lpstr>LONGHORN: STATE SPACE MODELS ARE AMORTIZED ONLINE LEARNERS (ICLR, 2025, Liu et al.)</vt:lpstr>
      <vt:lpstr>LONGHORN: STATE SPACE MODELS ARE AMORTIZED ONLINE LEARNERS (ICLR, 2025, Liu et al.)</vt:lpstr>
      <vt:lpstr>After LONGHORN</vt:lpstr>
      <vt:lpstr>GATED DELTA NETWORKS: IMPROVING MAMBA2 WITH DELTA RULE (ICLR, 2025, Yang et al.)</vt:lpstr>
      <vt:lpstr>GATED DELTA NETWORKS: IMPROVING MAMBA2 WITH DELTA RULE (ICLR, 2025, Yang et al.)</vt:lpstr>
      <vt:lpstr>Kimi Delta Network</vt:lpstr>
      <vt:lpstr>Kimi Delta Attention</vt:lpstr>
      <vt:lpstr>Online Learning 모델 근황</vt:lpstr>
      <vt:lpstr>마지막</vt:lpstr>
      <vt:lpstr>Q&amp;A</vt:lpstr>
    </vt:vector>
  </TitlesOfParts>
  <Company>IdeasResearch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Scheduling</dc:title>
  <dc:creator>Yulim</dc:creator>
  <cp:lastModifiedBy>TaekHyun Park</cp:lastModifiedBy>
  <cp:revision>996</cp:revision>
  <dcterms:created xsi:type="dcterms:W3CDTF">2016-10-05T02:16:34Z</dcterms:created>
  <dcterms:modified xsi:type="dcterms:W3CDTF">2026-09-04T05:55:20Z</dcterms:modified>
</cp:coreProperties>
</file>